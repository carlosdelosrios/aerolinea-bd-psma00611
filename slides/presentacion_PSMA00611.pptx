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8896ff7f-753b-3846-890c-5f5c392b3199}">
          <p14:sldIdLst>
            <p14:sldId id="256"/>
          </p14:sldIdLst>
        </p14:section>
        <p14:section name="Problema y diseño" id="{56c0ab83-fb3e-ae5b-9bb3-84cfb14adc39}">
          <p14:sldIdLst>
            <p14:sldId id="257"/>
            <p14:sldId id="258"/>
            <p14:sldId id="259"/>
            <p14:sldId id="260"/>
            <p14:sldId id="261"/>
          </p14:sldIdLst>
        </p14:section>
        <p14:section name="Implementación" id="{efe64e37-199b-4111-495b-bbe8b7dba1e5}">
          <p14:sldIdLst>
            <p14:sldId id="262"/>
            <p14:sldId id="263"/>
            <p14:sldId id="264"/>
            <p14:sldId id="265"/>
          </p14:sldIdLst>
        </p14:section>
        <p14:section name="Resultados" id="{6a6971ce-eeee-8874-e2a8-991b85a3f360}">
          <p14:sldIdLst>
            <p14:sldId id="266"/>
            <p14:sldId id="267"/>
            <p14:sldId id="268"/>
          </p14:sldIdLst>
        </p14:section>
        <p14:section name="Cierre" id="{a7db1de2-c818-db50-7982-31db910e75a0}">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42 reglas de negocio según el mecanismo que las garantiza</a:t>
            </a:r>
          </a:p>
        </c:rich>
      </c:tx>
      <c:layout/>
      <c:overlay val="0"/>
    </c:title>
    <c:autoTitleDeleted val="0"/>
    <c:plotArea>
      <c:layout/>
      <c:barChart>
        <c:barDir val="bar"/>
        <c:grouping val="clustered"/>
        <c:varyColors val="0"/>
        <c:ser>
          <c:idx val="0"/>
          <c:order val="0"/>
          <c:tx>
            <c:strRef>
              <c:f>Sheet1!$B$1</c:f>
              <c:strCache>
                <c:ptCount val="1"/>
                <c:pt idx="0">
                  <c:v>Reglas</c:v>
                </c:pt>
              </c:strCache>
            </c:strRef>
          </c:tx>
          <c:spPr>
            <a:solidFill>
              <a:srgbClr val="2A78D6"/>
            </a:solidFill>
            <a:effectLst/>
          </c:spPr>
          <c:invertIfNegative val="0"/>
          <c:dLbls>
            <c:numFmt formatCode="#,##0" sourceLinked="0"/>
            <c:txPr>
              <a:bodyPr/>
              <a:lstStyle/>
              <a:p>
                <a:pPr>
                  <a:defRPr b="0" i="0" strike="noStrike" sz="1200" u="none">
                    <a:solidFill>
                      <a:srgbClr val="52514E"/>
                    </a:solidFill>
                    <a:latin typeface="+mn-lt"/>
                  </a:defRPr>
                </a:pPr>
              </a:p>
            </c:txPr>
            <c:showLegendKey val="0"/>
            <c:showVal val="1"/>
            <c:showCatName val="0"/>
            <c:showSerName val="0"/>
            <c:showPercent val="0"/>
            <c:showBubbleSize val="0"/>
            <c:showLeaderLines val="0"/>
          </c:dLbls>
          <c:cat>
            <c:multiLvlStrRef>
              <c:f>Sheet1!$A$2:$A$6</c:f>
              <c:multiLvlStrCache>
                <c:ptCount val="5"/>
                <c:lvl>
                  <c:pt idx="0">
                    <c:v>Declarativa (D)</c:v>
                  </c:pt>
                  <c:pt idx="1">
                    <c:v>Trigger (T)</c:v>
                  </c:pt>
                  <c:pt idx="2">
                    <c:v>Procedimiento (P)</c:v>
                  </c:pt>
                  <c:pt idx="3">
                    <c:v>Combinada (D+T, T+P)</c:v>
                  </c:pt>
                  <c:pt idx="4">
                    <c:v>Verificación (A)</c:v>
                  </c:pt>
                </c:lvl>
              </c:multiLvlStrCache>
            </c:multiLvlStrRef>
          </c:cat>
          <c:val>
            <c:numRef>
              <c:f>Sheet1!$B$2:$B$6</c:f>
              <c:numCache>
                <c:formatCode>General</c:formatCode>
                <c:ptCount val="5"/>
                <c:pt idx="0">
                  <c:v>16</c:v>
                </c:pt>
                <c:pt idx="1">
                  <c:v>20</c:v>
                </c:pt>
                <c:pt idx="2">
                  <c:v>2</c:v>
                </c:pt>
                <c:pt idx="3">
                  <c:v>3</c:v>
                </c:pt>
                <c:pt idx="4">
                  <c:v>1</c:v>
                </c:pt>
              </c:numCache>
            </c:numRef>
          </c:val>
        </c:ser>
        <c:dLbls>
          <c:numFmt formatCode="#,##0" sourceLinked="0"/>
          <c:txPr>
            <a:bodyPr/>
            <a:lstStyle/>
            <a:p>
              <a:pPr>
                <a:defRPr b="0" i="0" strike="noStrike" sz="1200" u="none">
                  <a:solidFill>
                    <a:srgbClr val="52514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Por mes del evento (Q03, datos sintéticos)</a:t>
            </a:r>
          </a:p>
        </c:rich>
      </c:tx>
      <c:layout/>
      <c:overlay val="0"/>
    </c:title>
    <c:autoTitleDeleted val="0"/>
    <c:plotArea>
      <c:layout/>
      <c:barChart>
        <c:barDir val="col"/>
        <c:grouping val="clustered"/>
        <c:varyColors val="0"/>
        <c:ser>
          <c:idx val="0"/>
          <c:order val="0"/>
          <c:tx>
            <c:strRef>
              <c:f>Sheet1!$B$1</c:f>
              <c:strCache>
                <c:ptCount val="1"/>
                <c:pt idx="0">
                  <c:v>Ventas brutas</c:v>
                </c:pt>
              </c:strCache>
            </c:strRef>
          </c:tx>
          <c:spPr>
            <a:solidFill>
              <a:srgbClr val="2A78D6"/>
            </a:solidFill>
            <a:effectLst/>
          </c:spPr>
          <c:invertIfNegative val="0"/>
          <c:dLbls>
            <c:numFmt formatCode="0.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cat>
            <c:multiLvlStrRef>
              <c:f>Sheet1!$A$2:$A$5</c:f>
              <c:multiLvlStrCache>
                <c:ptCount val="4"/>
                <c:lvl>
                  <c:pt idx="0">
                    <c:v>jul 2026</c:v>
                  </c:pt>
                  <c:pt idx="1">
                    <c:v>ago 2026</c:v>
                  </c:pt>
                  <c:pt idx="2">
                    <c:v>sep 2026</c:v>
                  </c:pt>
                  <c:pt idx="3">
                    <c:v>oct 2026</c:v>
                  </c:pt>
                </c:lvl>
              </c:multiLvlStrCache>
            </c:multiLvlStrRef>
          </c:cat>
          <c:val>
            <c:numRef>
              <c:f>Sheet1!$B$2:$B$5</c:f>
              <c:numCache>
                <c:formatCode>General</c:formatCode>
                <c:ptCount val="4"/>
                <c:pt idx="0">
                  <c:v>9.96534608</c:v>
                </c:pt>
                <c:pt idx="1">
                  <c:v>15.591245820000001</c:v>
                </c:pt>
                <c:pt idx="2">
                  <c:v>23.73679426</c:v>
                </c:pt>
                <c:pt idx="3">
                  <c:v>24.22487663</c:v>
                </c:pt>
              </c:numCache>
            </c:numRef>
          </c:val>
        </c:ser>
        <c:ser>
          <c:idx val="1"/>
          <c:order val="1"/>
          <c:tx>
            <c:strRef>
              <c:f>Sheet1!$C$1</c:f>
              <c:strCache>
                <c:ptCount val="1"/>
                <c:pt idx="0">
                  <c:v>Cobros confirmados</c:v>
                </c:pt>
              </c:strCache>
            </c:strRef>
          </c:tx>
          <c:spPr>
            <a:solidFill>
              <a:srgbClr val="EB6834"/>
            </a:solidFill>
            <a:effectLst/>
          </c:spPr>
          <c:invertIfNegative val="0"/>
          <c:dLbls>
            <c:numFmt formatCode="0.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cat>
            <c:multiLvlStrRef>
              <c:f>Sheet1!$A$2:$A$5</c:f>
              <c:multiLvlStrCache>
                <c:ptCount val="4"/>
                <c:lvl>
                  <c:pt idx="0">
                    <c:v>jul 2026</c:v>
                  </c:pt>
                  <c:pt idx="1">
                    <c:v>ago 2026</c:v>
                  </c:pt>
                  <c:pt idx="2">
                    <c:v>sep 2026</c:v>
                  </c:pt>
                  <c:pt idx="3">
                    <c:v>oct 2026</c:v>
                  </c:pt>
                </c:lvl>
              </c:multiLvlStrCache>
            </c:multiLvlStrRef>
          </c:cat>
          <c:val>
            <c:numRef>
              <c:f>Sheet1!$C$2:$C$5</c:f>
              <c:numCache>
                <c:formatCode>General</c:formatCode>
                <c:ptCount val="4"/>
                <c:pt idx="0">
                  <c:v>9.774572769999999</c:v>
                </c:pt>
                <c:pt idx="1">
                  <c:v>15.28535839</c:v>
                </c:pt>
                <c:pt idx="2">
                  <c:v>23.37499021</c:v>
                </c:pt>
                <c:pt idx="3">
                  <c:v>23.833321920000003</c:v>
                </c:pt>
              </c:numCache>
            </c:numRef>
          </c:val>
        </c:ser>
        <c:ser>
          <c:idx val="2"/>
          <c:order val="2"/>
          <c:tx>
            <c:strRef>
              <c:f>Sheet1!$D$1</c:f>
              <c:strCache>
                <c:ptCount val="1"/>
                <c:pt idx="0">
                  <c:v>Reembolsos</c:v>
                </c:pt>
              </c:strCache>
            </c:strRef>
          </c:tx>
          <c:spPr>
            <a:solidFill>
              <a:srgbClr val="1BAF7A"/>
            </a:solidFill>
            <a:effectLst/>
          </c:spPr>
          <c:invertIfNegative val="0"/>
          <c:dLbls>
            <c:numFmt formatCode="0.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cat>
            <c:multiLvlStrRef>
              <c:f>Sheet1!$A$2:$A$5</c:f>
              <c:multiLvlStrCache>
                <c:ptCount val="4"/>
                <c:lvl>
                  <c:pt idx="0">
                    <c:v>jul 2026</c:v>
                  </c:pt>
                  <c:pt idx="1">
                    <c:v>ago 2026</c:v>
                  </c:pt>
                  <c:pt idx="2">
                    <c:v>sep 2026</c:v>
                  </c:pt>
                  <c:pt idx="3">
                    <c:v>oct 2026</c:v>
                  </c:pt>
                </c:lvl>
              </c:multiLvlStrCache>
            </c:multiLvlStrRef>
          </c:cat>
          <c:val>
            <c:numRef>
              <c:f>Sheet1!$D$2:$D$5</c:f>
              <c:numCache>
                <c:formatCode>General</c:formatCode>
                <c:ptCount val="4"/>
                <c:pt idx="0">
                  <c:v>0.21975572</c:v>
                </c:pt>
                <c:pt idx="1">
                  <c:v>0.48223763000000003</c:v>
                </c:pt>
                <c:pt idx="2">
                  <c:v>1.00164725</c:v>
                </c:pt>
                <c:pt idx="3">
                  <c:v>1.32716144</c:v>
                </c:pt>
              </c:numCache>
            </c:numRef>
          </c:val>
        </c:ser>
        <c:dLbls>
          <c:numFmt formatCode="0.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E3DE"/>
              </a:solidFill>
              <a:prstDash val="solid"/>
              <a:round/>
            </a:ln>
          </c:spPr>
        </c:majorGridlines>
        <c:title>
          <c:tx>
            <c:rich>
              <a:bodyPr/>
              <a:lstStyle/>
              <a:p>
                <a:pPr>
                  <a:defRPr sz="1100" b="0" i="0" u="none" strike="noStrike">
                    <a:solidFill>
                      <a:srgbClr val="52514E"/>
                    </a:solidFill>
                    <a:latin typeface="+mn-lt"/>
                  </a:defRPr>
                </a:pPr>
                <a:r>
                  <a:rPr sz="1100" b="0" i="0" u="none" strike="noStrike">
                    <a:solidFill>
                      <a:srgbClr val="52514E"/>
                    </a:solidFill>
                    <a:latin typeface="+mn-lt"/>
                  </a:rPr>
                  <a:t>Millones de USD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0B0B0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0:30. Presentar el producto en una frase: una base de datos relacional para una aerolínea nueva, que garantiza en el propio motor las reglas del negocio y que se puede reconstruir completa con un comando. Aclarar desde el inicio que todos los datos son sintéticos y que el despliegue en Azure está preparado pero pendiente. Recordar que la exposición es aleatoria: cualquiera del equipo puede continuar desde cualquier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1:30. El problema no es guardar datos sino garantizar que sean correctos aunque varias personas vendan y cobren a la vez. Los tres riesgos de la izquierda guían el diseño. Leer los cinco objetivos específicos: el informe tiene una conclusión por cada uno. Enfatizar que el enunciado pide una base de datos en la nube, requisitos, modelo, tablas, carga, consultas y su ejecución desde un lenguaje de programación; lo demás son mejoras propuestas por 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1:30. El enunciado deja abiertas preguntas que cambian el modelo. Explicar dos con ejemplo: (1) un padre compra tres tiquetes para su familia sin registrarse: comprador y pasajeros son personas distintas y ninguna necesita cuenta; (2) si la tarifa JFK-LAX sube mañana, el tiquete vendido hoy conserva su precio porque el precio es un hecho de la venta. La regla de 24 horas sigue la norma del Departamento de Transporte de EE. UU. (14 CFR 259.5).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1:15. La decisión central: las reglas viven en la base, no en la aplicación. Si solo estuvieran en Python, un INSERT desde SSMS o una carga masiva podría saltarlas. SSMS administra, el motor garantiza y Python automatiza. El mismo código T-SQL sirve para SQL Server local y Azure SQL Database: los scripts no usan USE y la concurrencia se probó con READ_COMMITTED_SNAPSHOT, que es el valor por defecto en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1:30. Leer el diagrama desde el tiquete: pertenece a una compra, la viaja una persona, consume una plaza de una cabina en un vuelo, tiene una tarifa y quizá un descuento, y se paga con uno o varios pagos que pueden reembolsarse. Notación de pata de gallo: dos rayas = exactamente uno, círculo = opcional, pata = muchos. El modelo lógico se divide en cuatro diagramas en el informe (figuras 2 a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1:30. La normalización evita que un dato se repita y quede inconsistente. Aceptamos seis redundancias porque cada una tiene un motivo y un control. La más importante es el precio histórico: la dependencia «tarifa → precio» solo vale en el momento de la venta, así que copiar el precio no es una anomalía sino un registro del hecho. La segunda es el contador de plazas, que además sirve de semáforo para la concurrencia. Prueba de que no hay anomalías: los controles de conciliación devuelven cero diferencias.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1:15. Orden de preferencia: restricción declarativa, luego trigger, luego procedimiento. Lo declarativo lo aplica el motor siempre y es más rápido. Los triggers cubren reglas entre filas: transiciones de estado, solapes de avión y tripulación, tarifa vigente, inventario. Están escritos en conjunto: funcionan igual con una fila que con 300 000. El índice filtrado solo cuenta tiquetes activos, por eso un tiquete cancelado libera el asiento.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1:30. Las pruebas usan hilos con una conexión cada uno y una barrera para que todos empiecen a la vez. Explicar la escritura sesgada: dos ventas leen «queda 1 asiento», ambas validan y ambas escriben. Por eso la validación bloquea la fila del cupo: la segunda venta espera a que la primera termine. Las ventas de otros vuelos no esperan. Contar el hallazgo de la asignación automática: la primera versión falló esta misma prueba (6 de 30) y se corrigió.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1:15. Reproducibilidad: misma semilla, mismos datos byte a byte; cualquier integrante obtiene las mismas cifras. Seguridad: nunca se concatena la entrada del usuario en el SQL; los valores van como parámetros. Detalle técnico que vale la pena contar si preguntan: GO no es SQL, la aplicación divide los lotes del lado del cliente. Y el hallazgo del pooling de ODBC: la carga heredaba una transacción abierta de otra conexión.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2:30. Seguir docs/defensa/guion_demo.md. Antes de la sesión: base cargada, .env listo, terminal con letra grande. Paso 1 (20 s): verificar-conexion y señalar el cifrado. Paso 2 (80 s): demo; en la parte A señalar que el error deshace todo, incluida la persona creada; en la parte B leer los estados. Paso 3 (40 s): consulta Q16 con parámetros. Si algo falla, mostrar la salida guardada y seguir: no depurar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1:45. Cada magnitud se agrega por su propia fecha en una expresión separada. Si se unen pagos y reembolsos antes de agregar, un tiquete con dos pagos duplica su reembolso: la prueba PR-20 lo demuestra (72,27 contra 87,78 millones). Los cobros superan a las ventas vigentes sin error: incluyen dinero devuelto o retenido como penalidad; la identidad de caja cuadra al centavo. No calculamos rentabilidad porque no hay costos. Recordar: datos sintéticos; validan el modelo, no describen un mercado.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1:15. Una prueba solo se declara superada si se observó su resultado; los resultados están en evidence/contenedor_linux. Contar uno o dos hallazgos con detalle: el de lógica de tres valores es un clásico de SQL; el del pooling muestra por qué hay que verificar el estado de la transacción. El registro completo con causa y evidencia está en el anexo B del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1:15. Ser explícitos: el requisito de nube del enunciado no está cumplido mientras no se despliegue en Azure con evidencia propia, y las pruebas locales no lo sustituyen. Todo está listo: guía, script en modo simulación, verificación y lista de evidencias. Mencionar las diferencias resueltas en el diseño (sin USE, autenticación Entra, certificado validado, RCSI). Las limitaciones son también el trabajo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1:30. Cerrar con una conclusión por objetivo (el quinto, nube, queda pendiente y se dice). Próximos pasos concretos y en orden: laptop, Azure, GitHub. Abrir preguntas; las respuestas preparadas están en docs/defensa/preguntas_defensa.md.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8595360" cy="173736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731520" y="3749040"/>
            <a:ext cx="8595360" cy="82296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PSMA00611 · Base de datos de una aerolínea · datos sintéticos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bg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8595360" cy="173736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Base de datos para una aerolínea comercial en Estados Unidos</a:t>
            </a:r>
            <a:endParaRPr lang="en-US" sz="4000" dirty="0"/>
          </a:p>
        </p:txBody>
      </p:sp>
      <p:sp>
        <p:nvSpPr>
          <p:cNvPr id="3" name="Text 0"/>
          <p:cNvSpPr/>
          <p:nvPr>
            <p:ph idx="101" type="body" hasCustomPrompt="1"/>
          </p:nvPr>
        </p:nvSpPr>
        <p:spPr>
          <a:xfrm>
            <a:off x="731520" y="3749040"/>
            <a:ext cx="8595360" cy="822960"/>
          </a:xfrm>
          <a:prstGeom prst="rect">
            <a:avLst/>
          </a:prstGeom>
          <a:noFill/>
          <a:ln/>
        </p:spPr>
        <p:txBody>
          <a:bodyPr wrap="square" lIns="0" tIns="0" rIns="0" bIns="0" rtlCol="0" anchor="t"/>
          <a:lstStyle/>
          <a:p>
            <a:pPr indent="0" marL="0">
              <a:buNone/>
            </a:pPr>
            <a:r>
              <a:rPr lang="en-US" sz="2000" dirty="0">
                <a:solidFill>
                  <a:schemeClr val="accent6"/>
                </a:solidFill>
              </a:rPr>
              <a:t>Requisitos, modelado, SQL Server, Python y preparación para Azure SQL Database</a:t>
            </a:r>
            <a:endParaRPr lang="en-US" sz="2000" dirty="0"/>
          </a:p>
        </p:txBody>
      </p:sp>
      <p:sp>
        <p:nvSpPr>
          <p:cNvPr id="4" name="portada_circulo"/>
          <p:cNvSpPr/>
          <p:nvPr/>
        </p:nvSpPr>
        <p:spPr>
          <a:xfrm>
            <a:off x="9692640" y="2011680"/>
            <a:ext cx="1737360" cy="1737360"/>
          </a:xfrm>
          <a:prstGeom prst="ellipse">
            <a:avLst/>
          </a:prstGeom>
          <a:solidFill>
            <a:srgbClr val="2A78D6"/>
          </a:solidFill>
          <a:ln w="12700">
            <a:solidFill>
              <a:srgbClr val="2A78D6"/>
            </a:solidFill>
            <a:prstDash val="solid"/>
          </a:ln>
        </p:spPr>
      </p:sp>
      <p:pic>
        <p:nvPicPr>
          <p:cNvPr id="5" name="portada_icono" descr="preencoded.png">    </p:cNvPr>
          <p:cNvPicPr>
            <a:picLocks noChangeAspect="1"/>
          </p:cNvPicPr>
          <p:nvPr/>
        </p:nvPicPr>
        <p:blipFill>
          <a:blip r:embed="rId1"/>
          <a:stretch>
            <a:fillRect/>
          </a:stretch>
        </p:blipFill>
        <p:spPr>
          <a:xfrm>
            <a:off x="10109606" y="2428646"/>
            <a:ext cx="903427" cy="903427"/>
          </a:xfrm>
          <a:prstGeom prst="rect">
            <a:avLst/>
          </a:prstGeom>
        </p:spPr>
      </p:pic>
      <p:sp>
        <p:nvSpPr>
          <p:cNvPr id="6" name="Text 3"/>
          <p:cNvSpPr txBox="1"/>
          <p:nvPr/>
        </p:nvSpPr>
        <p:spPr>
          <a:xfrm>
            <a:off x="731520" y="5120640"/>
            <a:ext cx="10515600" cy="1097280"/>
          </a:xfrm>
          <a:prstGeom prst="rect">
            <a:avLst/>
          </a:prstGeom>
          <a:noFill/>
          <a:ln/>
        </p:spPr>
        <p:txBody>
          <a:bodyPr wrap="square" lIns="0" tIns="0" rIns="0" bIns="0" rtlCol="0" anchor="t"/>
          <a:lstStyle/>
          <a:p>
            <a:pPr indent="0" marL="0">
              <a:spcAft>
                <a:spcPts val="400"/>
              </a:spcAft>
              <a:buNone/>
            </a:pPr>
            <a:r>
              <a:rPr lang="en-US" sz="1400" dirty="0">
                <a:solidFill>
                  <a:schemeClr val="bg1"/>
                </a:solidFill>
              </a:rPr>
              <a:t>Gestión de datos y bases de datos con SQL (PSMA00611)</a:t>
            </a:r>
            <a:endParaRPr lang="en-US" sz="1400" dirty="0"/>
          </a:p>
          <a:p>
            <a:pPr indent="0" marL="0">
              <a:spcAft>
                <a:spcPts val="400"/>
              </a:spcAft>
              <a:buNone/>
            </a:pPr>
            <a:r>
              <a:rPr lang="en-US" sz="1400" dirty="0">
                <a:solidFill>
                  <a:schemeClr val="bg1"/>
                </a:solidFill>
              </a:rPr>
              <a:t>Maestría en Ciencia de Datos · Escuela de Posgrado · Universidad Continental</a:t>
            </a:r>
            <a:endParaRPr lang="en-US" sz="1400" dirty="0"/>
          </a:p>
          <a:p>
            <a:pPr indent="0" marL="0">
              <a:spcAft>
                <a:spcPts val="400"/>
              </a:spcAft>
              <a:buNone/>
            </a:pPr>
            <a:r>
              <a:rPr lang="en-US" sz="1400" dirty="0">
                <a:solidFill>
                  <a:schemeClr val="bg1"/>
                </a:solidFill>
              </a:rPr>
              <a:t>Equipo: [POR COMPLETAR]   ·   Docente: [POR COMPLETAR]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Un error en estos datos lo nota el pasajero</a:t>
            </a:r>
            <a:endParaRPr lang="en-US" sz="3200" dirty="0"/>
          </a:p>
        </p:txBody>
      </p:sp>
      <p:sp>
        <p:nvSpPr>
          <p:cNvPr id="3" name="riesgo0_circulo"/>
          <p:cNvSpPr/>
          <p:nvPr/>
        </p:nvSpPr>
        <p:spPr>
          <a:xfrm>
            <a:off x="548640" y="1417320"/>
            <a:ext cx="822960" cy="822960"/>
          </a:xfrm>
          <a:prstGeom prst="ellipse">
            <a:avLst/>
          </a:prstGeom>
          <a:solidFill>
            <a:srgbClr val="EB6834"/>
          </a:solidFill>
          <a:ln w="12700">
            <a:solidFill>
              <a:srgbClr val="EB6834"/>
            </a:solidFill>
            <a:prstDash val="solid"/>
          </a:ln>
        </p:spPr>
      </p:sp>
      <p:pic>
        <p:nvPicPr>
          <p:cNvPr id="4" name="riesgo0_icono" descr="preencoded.png">    </p:cNvPr>
          <p:cNvPicPr>
            <a:picLocks noChangeAspect="1"/>
          </p:cNvPicPr>
          <p:nvPr/>
        </p:nvPicPr>
        <p:blipFill>
          <a:blip r:embed="rId1"/>
          <a:stretch>
            <a:fillRect/>
          </a:stretch>
        </p:blipFill>
        <p:spPr>
          <a:xfrm>
            <a:off x="746150" y="1614830"/>
            <a:ext cx="427939" cy="427939"/>
          </a:xfrm>
          <a:prstGeom prst="rect">
            <a:avLst/>
          </a:prstGeom>
        </p:spPr>
      </p:pic>
      <p:sp>
        <p:nvSpPr>
          <p:cNvPr id="5" name="Text 2"/>
          <p:cNvSpPr txBox="1"/>
          <p:nvPr/>
        </p:nvSpPr>
        <p:spPr>
          <a:xfrm>
            <a:off x="1554480" y="1463040"/>
            <a:ext cx="3931920" cy="914400"/>
          </a:xfrm>
          <a:prstGeom prst="rect">
            <a:avLst/>
          </a:prstGeom>
          <a:noFill/>
          <a:ln/>
        </p:spPr>
        <p:txBody>
          <a:bodyPr wrap="square" lIns="0" tIns="0" rIns="0" bIns="0" rtlCol="0" anchor="t"/>
          <a:lstStyle/>
          <a:p>
            <a:pPr indent="0" marL="0">
              <a:buNone/>
            </a:pPr>
            <a:r>
              <a:rPr lang="en-US" sz="1800" b="1" dirty="0">
                <a:solidFill>
                  <a:schemeClr val="tx1"/>
                </a:solidFill>
              </a:rPr>
              <a:t>Asiento vendido dos veces</a:t>
            </a:r>
            <a:endParaRPr lang="en-US" sz="1500" dirty="0"/>
          </a:p>
          <a:p>
            <a:pPr indent="0" marL="0">
              <a:buNone/>
            </a:pPr>
            <a:r>
              <a:rPr lang="en-US" sz="1400" dirty="0">
                <a:solidFill>
                  <a:schemeClr val="accent5"/>
                </a:solidFill>
              </a:rPr>
              <a:t>o un vuelo con más pasajeros que asientos</a:t>
            </a:r>
            <a:endParaRPr lang="en-US" sz="1500" dirty="0"/>
          </a:p>
        </p:txBody>
      </p:sp>
      <p:sp>
        <p:nvSpPr>
          <p:cNvPr id="6" name="riesgo1_circulo"/>
          <p:cNvSpPr/>
          <p:nvPr/>
        </p:nvSpPr>
        <p:spPr>
          <a:xfrm>
            <a:off x="548640" y="2926080"/>
            <a:ext cx="822960" cy="822960"/>
          </a:xfrm>
          <a:prstGeom prst="ellipse">
            <a:avLst/>
          </a:prstGeom>
          <a:solidFill>
            <a:srgbClr val="EB6834"/>
          </a:solidFill>
          <a:ln w="12700">
            <a:solidFill>
              <a:srgbClr val="EB6834"/>
            </a:solidFill>
            <a:prstDash val="solid"/>
          </a:ln>
        </p:spPr>
      </p:sp>
      <p:pic>
        <p:nvPicPr>
          <p:cNvPr id="7" name="riesgo1_icono" descr="preencoded.png">    </p:cNvPr>
          <p:cNvPicPr>
            <a:picLocks noChangeAspect="1"/>
          </p:cNvPicPr>
          <p:nvPr/>
        </p:nvPicPr>
        <p:blipFill>
          <a:blip r:embed="rId2"/>
          <a:stretch>
            <a:fillRect/>
          </a:stretch>
        </p:blipFill>
        <p:spPr>
          <a:xfrm>
            <a:off x="746150" y="3123590"/>
            <a:ext cx="427939" cy="427939"/>
          </a:xfrm>
          <a:prstGeom prst="rect">
            <a:avLst/>
          </a:prstGeom>
        </p:spPr>
      </p:pic>
      <p:sp>
        <p:nvSpPr>
          <p:cNvPr id="8" name="Text 4"/>
          <p:cNvSpPr txBox="1"/>
          <p:nvPr/>
        </p:nvSpPr>
        <p:spPr>
          <a:xfrm>
            <a:off x="1554480" y="2971800"/>
            <a:ext cx="3931920" cy="914400"/>
          </a:xfrm>
          <a:prstGeom prst="rect">
            <a:avLst/>
          </a:prstGeom>
          <a:noFill/>
          <a:ln/>
        </p:spPr>
        <p:txBody>
          <a:bodyPr wrap="square" lIns="0" tIns="0" rIns="0" bIns="0" rtlCol="0" anchor="t"/>
          <a:lstStyle/>
          <a:p>
            <a:pPr indent="0" marL="0">
              <a:buNone/>
            </a:pPr>
            <a:r>
              <a:rPr lang="en-US" sz="1800" b="1" dirty="0">
                <a:solidFill>
                  <a:schemeClr val="tx1"/>
                </a:solidFill>
              </a:rPr>
              <a:t>Cobro duplicado</a:t>
            </a:r>
            <a:endParaRPr lang="en-US" sz="1500" dirty="0"/>
          </a:p>
          <a:p>
            <a:pPr indent="0" marL="0">
              <a:buNone/>
            </a:pPr>
            <a:r>
              <a:rPr lang="en-US" sz="1400" dirty="0">
                <a:solidFill>
                  <a:schemeClr val="accent5"/>
                </a:solidFill>
              </a:rPr>
              <a:t>dos pagos simultáneos del mismo saldo</a:t>
            </a:r>
            <a:endParaRPr lang="en-US" sz="1500" dirty="0"/>
          </a:p>
        </p:txBody>
      </p:sp>
      <p:sp>
        <p:nvSpPr>
          <p:cNvPr id="9" name="riesgo2_circulo"/>
          <p:cNvSpPr/>
          <p:nvPr/>
        </p:nvSpPr>
        <p:spPr>
          <a:xfrm>
            <a:off x="548640" y="4434840"/>
            <a:ext cx="822960" cy="822960"/>
          </a:xfrm>
          <a:prstGeom prst="ellipse">
            <a:avLst/>
          </a:prstGeom>
          <a:solidFill>
            <a:srgbClr val="EB6834"/>
          </a:solidFill>
          <a:ln w="12700">
            <a:solidFill>
              <a:srgbClr val="EB6834"/>
            </a:solidFill>
            <a:prstDash val="solid"/>
          </a:ln>
        </p:spPr>
      </p:sp>
      <p:pic>
        <p:nvPicPr>
          <p:cNvPr id="10" name="riesgo2_icono" descr="preencoded.png">    </p:cNvPr>
          <p:cNvPicPr>
            <a:picLocks noChangeAspect="1"/>
          </p:cNvPicPr>
          <p:nvPr/>
        </p:nvPicPr>
        <p:blipFill>
          <a:blip r:embed="rId3"/>
          <a:stretch>
            <a:fillRect/>
          </a:stretch>
        </p:blipFill>
        <p:spPr>
          <a:xfrm>
            <a:off x="746150" y="4632350"/>
            <a:ext cx="427939" cy="427939"/>
          </a:xfrm>
          <a:prstGeom prst="rect">
            <a:avLst/>
          </a:prstGeom>
        </p:spPr>
      </p:pic>
      <p:sp>
        <p:nvSpPr>
          <p:cNvPr id="11" name="Text 6"/>
          <p:cNvSpPr txBox="1"/>
          <p:nvPr/>
        </p:nvSpPr>
        <p:spPr>
          <a:xfrm>
            <a:off x="1554480" y="4480560"/>
            <a:ext cx="3931920" cy="914400"/>
          </a:xfrm>
          <a:prstGeom prst="rect">
            <a:avLst/>
          </a:prstGeom>
          <a:noFill/>
          <a:ln/>
        </p:spPr>
        <p:txBody>
          <a:bodyPr wrap="square" lIns="0" tIns="0" rIns="0" bIns="0" rtlCol="0" anchor="t"/>
          <a:lstStyle/>
          <a:p>
            <a:pPr indent="0" marL="0">
              <a:buNone/>
            </a:pPr>
            <a:r>
              <a:rPr lang="en-US" sz="1800" b="1" dirty="0">
                <a:solidFill>
                  <a:schemeClr val="tx1"/>
                </a:solidFill>
              </a:rPr>
              <a:t>Reembolso mal calculado</a:t>
            </a:r>
            <a:endParaRPr lang="en-US" sz="1500" dirty="0"/>
          </a:p>
          <a:p>
            <a:pPr indent="0" marL="0">
              <a:buNone/>
            </a:pPr>
            <a:r>
              <a:rPr lang="en-US" sz="1400" dirty="0">
                <a:solidFill>
                  <a:schemeClr val="accent5"/>
                </a:solidFill>
              </a:rPr>
              <a:t>política aplicada a mano o con datos viejos</a:t>
            </a:r>
            <a:endParaRPr lang="en-US" sz="1500" dirty="0"/>
          </a:p>
        </p:txBody>
      </p:sp>
      <p:sp>
        <p:nvSpPr>
          <p:cNvPr id="12" name="objetivos_fondo"/>
          <p:cNvSpPr/>
          <p:nvPr/>
        </p:nvSpPr>
        <p:spPr>
          <a:xfrm>
            <a:off x="5852160" y="1325880"/>
            <a:ext cx="5760720" cy="4800600"/>
          </a:xfrm>
          <a:prstGeom prst="roundRect">
            <a:avLst>
              <a:gd name="adj" fmla="val 1524"/>
            </a:avLst>
          </a:prstGeom>
          <a:solidFill>
            <a:schemeClr val="bg2"/>
          </a:solidFill>
          <a:ln w="12700">
            <a:solidFill>
              <a:schemeClr val="bg2"/>
            </a:solidFill>
            <a:prstDash val="solid"/>
          </a:ln>
        </p:spPr>
      </p:sp>
      <p:sp>
        <p:nvSpPr>
          <p:cNvPr id="13" name="Text 8"/>
          <p:cNvSpPr txBox="1"/>
          <p:nvPr/>
        </p:nvSpPr>
        <p:spPr>
          <a:xfrm>
            <a:off x="6172200" y="1508760"/>
            <a:ext cx="5120640"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Objetivos</a:t>
            </a:r>
            <a:endParaRPr lang="en-US" sz="2000" dirty="0"/>
          </a:p>
        </p:txBody>
      </p:sp>
      <p:sp>
        <p:nvSpPr>
          <p:cNvPr id="14" name="oe_OE1"/>
          <p:cNvSpPr/>
          <p:nvPr/>
        </p:nvSpPr>
        <p:spPr>
          <a:xfrm>
            <a:off x="6172200" y="2148840"/>
            <a:ext cx="777240" cy="457200"/>
          </a:xfrm>
          <a:prstGeom prst="roundRect">
            <a:avLst>
              <a:gd name="adj" fmla="val 16000"/>
            </a:avLst>
          </a:prstGeom>
          <a:solidFill>
            <a:schemeClr val="accent1"/>
          </a:solidFill>
          <a:ln w="12700">
            <a:solidFill>
              <a:schemeClr val="accent1"/>
            </a:solidFill>
            <a:prstDash val="solid"/>
          </a:ln>
        </p:spPr>
      </p:sp>
      <p:sp>
        <p:nvSpPr>
          <p:cNvPr id="15" name="Text 10"/>
          <p:cNvSpPr txBox="1"/>
          <p:nvPr/>
        </p:nvSpPr>
        <p:spPr>
          <a:xfrm>
            <a:off x="6172200" y="2148840"/>
            <a:ext cx="777240" cy="457200"/>
          </a:xfrm>
          <a:prstGeom prst="rect">
            <a:avLst/>
          </a:prstGeom>
          <a:noFill/>
          <a:ln/>
        </p:spPr>
        <p:txBody>
          <a:bodyPr wrap="square" lIns="0" tIns="0" rIns="0" bIns="0" rtlCol="0" anchor="ctr"/>
          <a:lstStyle/>
          <a:p>
            <a:pPr algn="ctr" indent="0" marL="0">
              <a:buNone/>
            </a:pPr>
            <a:r>
              <a:rPr lang="en-US" sz="1400" b="1" dirty="0">
                <a:solidFill>
                  <a:schemeClr val="bg1"/>
                </a:solidFill>
              </a:rPr>
              <a:t>OE1</a:t>
            </a:r>
            <a:endParaRPr lang="en-US" sz="1400" dirty="0"/>
          </a:p>
        </p:txBody>
      </p:sp>
      <p:sp>
        <p:nvSpPr>
          <p:cNvPr id="16" name="Text 11"/>
          <p:cNvSpPr txBox="1"/>
          <p:nvPr/>
        </p:nvSpPr>
        <p:spPr>
          <a:xfrm>
            <a:off x="7132320" y="2130552"/>
            <a:ext cx="4297680" cy="548640"/>
          </a:xfrm>
          <a:prstGeom prst="rect">
            <a:avLst/>
          </a:prstGeom>
          <a:noFill/>
          <a:ln/>
        </p:spPr>
        <p:txBody>
          <a:bodyPr wrap="square" lIns="0" tIns="0" rIns="0" bIns="0" rtlCol="0" anchor="ctr"/>
          <a:lstStyle/>
          <a:p>
            <a:pPr indent="0" marL="0">
              <a:buNone/>
            </a:pPr>
            <a:r>
              <a:rPr lang="en-US" sz="1500" dirty="0">
                <a:solidFill>
                  <a:schemeClr val="tx1"/>
                </a:solidFill>
              </a:rPr>
              <a:t>Requisitos verificables: 42 reglas y 13 supuestos explícitos</a:t>
            </a:r>
            <a:endParaRPr lang="en-US" sz="1500" dirty="0"/>
          </a:p>
        </p:txBody>
      </p:sp>
      <p:sp>
        <p:nvSpPr>
          <p:cNvPr id="17" name="oe_OE2"/>
          <p:cNvSpPr/>
          <p:nvPr/>
        </p:nvSpPr>
        <p:spPr>
          <a:xfrm>
            <a:off x="6172200" y="2926080"/>
            <a:ext cx="777240" cy="457200"/>
          </a:xfrm>
          <a:prstGeom prst="roundRect">
            <a:avLst>
              <a:gd name="adj" fmla="val 16000"/>
            </a:avLst>
          </a:prstGeom>
          <a:solidFill>
            <a:schemeClr val="accent1"/>
          </a:solidFill>
          <a:ln w="12700">
            <a:solidFill>
              <a:schemeClr val="accent1"/>
            </a:solidFill>
            <a:prstDash val="solid"/>
          </a:ln>
        </p:spPr>
      </p:sp>
      <p:sp>
        <p:nvSpPr>
          <p:cNvPr id="18" name="Text 13"/>
          <p:cNvSpPr txBox="1"/>
          <p:nvPr/>
        </p:nvSpPr>
        <p:spPr>
          <a:xfrm>
            <a:off x="6172200" y="2926080"/>
            <a:ext cx="777240" cy="457200"/>
          </a:xfrm>
          <a:prstGeom prst="rect">
            <a:avLst/>
          </a:prstGeom>
          <a:noFill/>
          <a:ln/>
        </p:spPr>
        <p:txBody>
          <a:bodyPr wrap="square" lIns="0" tIns="0" rIns="0" bIns="0" rtlCol="0" anchor="ctr"/>
          <a:lstStyle/>
          <a:p>
            <a:pPr algn="ctr" indent="0" marL="0">
              <a:buNone/>
            </a:pPr>
            <a:r>
              <a:rPr lang="en-US" sz="1400" b="1" dirty="0">
                <a:solidFill>
                  <a:schemeClr val="bg1"/>
                </a:solidFill>
              </a:rPr>
              <a:t>OE2</a:t>
            </a:r>
            <a:endParaRPr lang="en-US" sz="1400" dirty="0"/>
          </a:p>
        </p:txBody>
      </p:sp>
      <p:sp>
        <p:nvSpPr>
          <p:cNvPr id="19" name="Text 14"/>
          <p:cNvSpPr txBox="1"/>
          <p:nvPr/>
        </p:nvSpPr>
        <p:spPr>
          <a:xfrm>
            <a:off x="7132320" y="2907792"/>
            <a:ext cx="4297680" cy="548640"/>
          </a:xfrm>
          <a:prstGeom prst="rect">
            <a:avLst/>
          </a:prstGeom>
          <a:noFill/>
          <a:ln/>
        </p:spPr>
        <p:txBody>
          <a:bodyPr wrap="square" lIns="0" tIns="0" rIns="0" bIns="0" rtlCol="0" anchor="ctr"/>
          <a:lstStyle/>
          <a:p>
            <a:pPr indent="0" marL="0">
              <a:buNone/>
            </a:pPr>
            <a:r>
              <a:rPr lang="en-US" sz="1500" dirty="0">
                <a:solidFill>
                  <a:schemeClr val="tx1"/>
                </a:solidFill>
              </a:rPr>
              <a:t>Modelo conceptual, lógico y físico en 3FN</a:t>
            </a:r>
            <a:endParaRPr lang="en-US" sz="1500" dirty="0"/>
          </a:p>
        </p:txBody>
      </p:sp>
      <p:sp>
        <p:nvSpPr>
          <p:cNvPr id="20" name="oe_OE3"/>
          <p:cNvSpPr/>
          <p:nvPr/>
        </p:nvSpPr>
        <p:spPr>
          <a:xfrm>
            <a:off x="6172200" y="3703320"/>
            <a:ext cx="777240" cy="457200"/>
          </a:xfrm>
          <a:prstGeom prst="roundRect">
            <a:avLst>
              <a:gd name="adj" fmla="val 16000"/>
            </a:avLst>
          </a:prstGeom>
          <a:solidFill>
            <a:schemeClr val="accent1"/>
          </a:solidFill>
          <a:ln w="12700">
            <a:solidFill>
              <a:schemeClr val="accent1"/>
            </a:solidFill>
            <a:prstDash val="solid"/>
          </a:ln>
        </p:spPr>
      </p:sp>
      <p:sp>
        <p:nvSpPr>
          <p:cNvPr id="21" name="Text 16"/>
          <p:cNvSpPr txBox="1"/>
          <p:nvPr/>
        </p:nvSpPr>
        <p:spPr>
          <a:xfrm>
            <a:off x="6172200" y="3703320"/>
            <a:ext cx="777240" cy="457200"/>
          </a:xfrm>
          <a:prstGeom prst="rect">
            <a:avLst/>
          </a:prstGeom>
          <a:noFill/>
          <a:ln/>
        </p:spPr>
        <p:txBody>
          <a:bodyPr wrap="square" lIns="0" tIns="0" rIns="0" bIns="0" rtlCol="0" anchor="ctr"/>
          <a:lstStyle/>
          <a:p>
            <a:pPr algn="ctr" indent="0" marL="0">
              <a:buNone/>
            </a:pPr>
            <a:r>
              <a:rPr lang="en-US" sz="1400" b="1" dirty="0">
                <a:solidFill>
                  <a:schemeClr val="bg1"/>
                </a:solidFill>
              </a:rPr>
              <a:t>OE3</a:t>
            </a:r>
            <a:endParaRPr lang="en-US" sz="1400" dirty="0"/>
          </a:p>
        </p:txBody>
      </p:sp>
      <p:sp>
        <p:nvSpPr>
          <p:cNvPr id="22" name="Text 17"/>
          <p:cNvSpPr txBox="1"/>
          <p:nvPr/>
        </p:nvSpPr>
        <p:spPr>
          <a:xfrm>
            <a:off x="7132320" y="3685032"/>
            <a:ext cx="4297680" cy="548640"/>
          </a:xfrm>
          <a:prstGeom prst="rect">
            <a:avLst/>
          </a:prstGeom>
          <a:noFill/>
          <a:ln/>
        </p:spPr>
        <p:txBody>
          <a:bodyPr wrap="square" lIns="0" tIns="0" rIns="0" bIns="0" rtlCol="0" anchor="ctr"/>
          <a:lstStyle/>
          <a:p>
            <a:pPr indent="0" marL="0">
              <a:buNone/>
            </a:pPr>
            <a:r>
              <a:rPr lang="en-US" sz="1500" dirty="0">
                <a:solidFill>
                  <a:schemeClr val="tx1"/>
                </a:solidFill>
              </a:rPr>
              <a:t>Reglas en el motor, resistentes a la concurrencia</a:t>
            </a:r>
            <a:endParaRPr lang="en-US" sz="1500" dirty="0"/>
          </a:p>
        </p:txBody>
      </p:sp>
      <p:sp>
        <p:nvSpPr>
          <p:cNvPr id="23" name="oe_OE4"/>
          <p:cNvSpPr/>
          <p:nvPr/>
        </p:nvSpPr>
        <p:spPr>
          <a:xfrm>
            <a:off x="6172200" y="4480560"/>
            <a:ext cx="777240" cy="457200"/>
          </a:xfrm>
          <a:prstGeom prst="roundRect">
            <a:avLst>
              <a:gd name="adj" fmla="val 16000"/>
            </a:avLst>
          </a:prstGeom>
          <a:solidFill>
            <a:schemeClr val="accent1"/>
          </a:solidFill>
          <a:ln w="12700">
            <a:solidFill>
              <a:schemeClr val="accent1"/>
            </a:solidFill>
            <a:prstDash val="solid"/>
          </a:ln>
        </p:spPr>
      </p:sp>
      <p:sp>
        <p:nvSpPr>
          <p:cNvPr id="24" name="Text 19"/>
          <p:cNvSpPr txBox="1"/>
          <p:nvPr/>
        </p:nvSpPr>
        <p:spPr>
          <a:xfrm>
            <a:off x="6172200" y="4480560"/>
            <a:ext cx="777240" cy="457200"/>
          </a:xfrm>
          <a:prstGeom prst="rect">
            <a:avLst/>
          </a:prstGeom>
          <a:noFill/>
          <a:ln/>
        </p:spPr>
        <p:txBody>
          <a:bodyPr wrap="square" lIns="0" tIns="0" rIns="0" bIns="0" rtlCol="0" anchor="ctr"/>
          <a:lstStyle/>
          <a:p>
            <a:pPr algn="ctr" indent="0" marL="0">
              <a:buNone/>
            </a:pPr>
            <a:r>
              <a:rPr lang="en-US" sz="1400" b="1" dirty="0">
                <a:solidFill>
                  <a:schemeClr val="bg1"/>
                </a:solidFill>
              </a:rPr>
              <a:t>OE4</a:t>
            </a:r>
            <a:endParaRPr lang="en-US" sz="1400" dirty="0"/>
          </a:p>
        </p:txBody>
      </p:sp>
      <p:sp>
        <p:nvSpPr>
          <p:cNvPr id="25" name="Text 20"/>
          <p:cNvSpPr txBox="1"/>
          <p:nvPr/>
        </p:nvSpPr>
        <p:spPr>
          <a:xfrm>
            <a:off x="7132320" y="4462272"/>
            <a:ext cx="4297680" cy="548640"/>
          </a:xfrm>
          <a:prstGeom prst="rect">
            <a:avLst/>
          </a:prstGeom>
          <a:noFill/>
          <a:ln/>
        </p:spPr>
        <p:txBody>
          <a:bodyPr wrap="square" lIns="0" tIns="0" rIns="0" bIns="0" rtlCol="0" anchor="ctr"/>
          <a:lstStyle/>
          <a:p>
            <a:pPr indent="0" marL="0">
              <a:buNone/>
            </a:pPr>
            <a:r>
              <a:rPr lang="en-US" sz="1500" dirty="0">
                <a:solidFill>
                  <a:schemeClr val="tx1"/>
                </a:solidFill>
              </a:rPr>
              <a:t>Datos reproducibles y 20 consultas desde Python</a:t>
            </a:r>
            <a:endParaRPr lang="en-US" sz="1500" dirty="0"/>
          </a:p>
        </p:txBody>
      </p:sp>
      <p:sp>
        <p:nvSpPr>
          <p:cNvPr id="26" name="oe_OE5"/>
          <p:cNvSpPr/>
          <p:nvPr/>
        </p:nvSpPr>
        <p:spPr>
          <a:xfrm>
            <a:off x="6172200" y="5257800"/>
            <a:ext cx="777240" cy="457200"/>
          </a:xfrm>
          <a:prstGeom prst="roundRect">
            <a:avLst>
              <a:gd name="adj" fmla="val 16000"/>
            </a:avLst>
          </a:prstGeom>
          <a:solidFill>
            <a:schemeClr val="accent1"/>
          </a:solidFill>
          <a:ln w="12700">
            <a:solidFill>
              <a:schemeClr val="accent1"/>
            </a:solidFill>
            <a:prstDash val="solid"/>
          </a:ln>
        </p:spPr>
      </p:sp>
      <p:sp>
        <p:nvSpPr>
          <p:cNvPr id="27" name="Text 22"/>
          <p:cNvSpPr txBox="1"/>
          <p:nvPr/>
        </p:nvSpPr>
        <p:spPr>
          <a:xfrm>
            <a:off x="6172200" y="5257800"/>
            <a:ext cx="777240" cy="457200"/>
          </a:xfrm>
          <a:prstGeom prst="rect">
            <a:avLst/>
          </a:prstGeom>
          <a:noFill/>
          <a:ln/>
        </p:spPr>
        <p:txBody>
          <a:bodyPr wrap="square" lIns="0" tIns="0" rIns="0" bIns="0" rtlCol="0" anchor="ctr"/>
          <a:lstStyle/>
          <a:p>
            <a:pPr algn="ctr" indent="0" marL="0">
              <a:buNone/>
            </a:pPr>
            <a:r>
              <a:rPr lang="en-US" sz="1400" b="1" dirty="0">
                <a:solidFill>
                  <a:schemeClr val="bg1"/>
                </a:solidFill>
              </a:rPr>
              <a:t>OE5</a:t>
            </a:r>
            <a:endParaRPr lang="en-US" sz="1400" dirty="0"/>
          </a:p>
        </p:txBody>
      </p:sp>
      <p:sp>
        <p:nvSpPr>
          <p:cNvPr id="28" name="Text 23"/>
          <p:cNvSpPr txBox="1"/>
          <p:nvPr/>
        </p:nvSpPr>
        <p:spPr>
          <a:xfrm>
            <a:off x="7132320" y="5239512"/>
            <a:ext cx="4297680" cy="548640"/>
          </a:xfrm>
          <a:prstGeom prst="rect">
            <a:avLst/>
          </a:prstGeom>
          <a:noFill/>
          <a:ln/>
        </p:spPr>
        <p:txBody>
          <a:bodyPr wrap="square" lIns="0" tIns="0" rIns="0" bIns="0" rtlCol="0" anchor="ctr"/>
          <a:lstStyle/>
          <a:p>
            <a:pPr indent="0" marL="0">
              <a:buNone/>
            </a:pPr>
            <a:r>
              <a:rPr lang="en-US" sz="1500" dirty="0">
                <a:solidFill>
                  <a:schemeClr val="tx1"/>
                </a:solidFill>
              </a:rPr>
              <a:t>Pruebas automatizadas y preparación para Azure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Seis decisiones que resolvieron la ambigüedad</a:t>
            </a:r>
            <a:endParaRPr lang="en-US" sz="3200" dirty="0"/>
          </a:p>
        </p:txBody>
      </p:sp>
      <p:sp>
        <p:nvSpPr>
          <p:cNvPr id="3" name="decision0"/>
          <p:cNvSpPr/>
          <p:nvPr/>
        </p:nvSpPr>
        <p:spPr>
          <a:xfrm>
            <a:off x="548640" y="1371600"/>
            <a:ext cx="3520440" cy="2240280"/>
          </a:xfrm>
          <a:prstGeom prst="roundRect">
            <a:avLst>
              <a:gd name="adj" fmla="val 3265"/>
            </a:avLst>
          </a:prstGeom>
          <a:solidFill>
            <a:schemeClr val="bg2"/>
          </a:solidFill>
          <a:ln w="12700">
            <a:solidFill>
              <a:schemeClr val="bg2"/>
            </a:solidFill>
            <a:prstDash val="solid"/>
          </a:ln>
        </p:spPr>
      </p:sp>
      <p:sp>
        <p:nvSpPr>
          <p:cNvPr id="4" name="decision0_circulo"/>
          <p:cNvSpPr/>
          <p:nvPr/>
        </p:nvSpPr>
        <p:spPr>
          <a:xfrm>
            <a:off x="822960" y="1645920"/>
            <a:ext cx="685800" cy="685800"/>
          </a:xfrm>
          <a:prstGeom prst="ellipse">
            <a:avLst/>
          </a:prstGeom>
          <a:solidFill>
            <a:srgbClr val="2A78D6"/>
          </a:solidFill>
          <a:ln w="12700">
            <a:solidFill>
              <a:srgbClr val="2A78D6"/>
            </a:solidFill>
            <a:prstDash val="solid"/>
          </a:ln>
        </p:spPr>
      </p:sp>
      <p:pic>
        <p:nvPicPr>
          <p:cNvPr id="5" name="decision0_icono" descr="preencoded.png">    </p:cNvPr>
          <p:cNvPicPr>
            <a:picLocks noChangeAspect="1"/>
          </p:cNvPicPr>
          <p:nvPr/>
        </p:nvPicPr>
        <p:blipFill>
          <a:blip r:embed="rId1"/>
          <a:stretch>
            <a:fillRect/>
          </a:stretch>
        </p:blipFill>
        <p:spPr>
          <a:xfrm>
            <a:off x="987552" y="1810512"/>
            <a:ext cx="356616" cy="356616"/>
          </a:xfrm>
          <a:prstGeom prst="rect">
            <a:avLst/>
          </a:prstGeom>
        </p:spPr>
      </p:pic>
      <p:sp>
        <p:nvSpPr>
          <p:cNvPr id="6" name="Text 3"/>
          <p:cNvSpPr txBox="1"/>
          <p:nvPr/>
        </p:nvSpPr>
        <p:spPr>
          <a:xfrm>
            <a:off x="1645920" y="1719072"/>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Pasajero ≠ comprador</a:t>
            </a:r>
            <a:endParaRPr lang="en-US" sz="1700" dirty="0"/>
          </a:p>
        </p:txBody>
      </p:sp>
      <p:sp>
        <p:nvSpPr>
          <p:cNvPr id="7" name="Text 4"/>
          <p:cNvSpPr txBox="1"/>
          <p:nvPr/>
        </p:nvSpPr>
        <p:spPr>
          <a:xfrm>
            <a:off x="822960" y="2468880"/>
            <a:ext cx="3017520" cy="1051560"/>
          </a:xfrm>
          <a:prstGeom prst="rect">
            <a:avLst/>
          </a:prstGeom>
          <a:noFill/>
          <a:ln/>
        </p:spPr>
        <p:txBody>
          <a:bodyPr wrap="square" lIns="0" tIns="0" rIns="0" bIns="0" rtlCol="0" anchor="t"/>
          <a:lstStyle/>
          <a:p>
            <a:pPr indent="0" marL="0">
              <a:buNone/>
            </a:pPr>
            <a:r>
              <a:rPr lang="en-US" sz="1400" dirty="0">
                <a:solidFill>
                  <a:schemeClr val="tx1"/>
                </a:solidFill>
              </a:rPr>
              <a:t>Toda persona puede comprar o viajar; «cliente» es quien tiene cuenta (subtipo 1:0..1)</a:t>
            </a:r>
            <a:endParaRPr lang="en-US" sz="1400" dirty="0"/>
          </a:p>
        </p:txBody>
      </p:sp>
      <p:sp>
        <p:nvSpPr>
          <p:cNvPr id="8" name="decision1"/>
          <p:cNvSpPr/>
          <p:nvPr/>
        </p:nvSpPr>
        <p:spPr>
          <a:xfrm>
            <a:off x="4297680" y="1371600"/>
            <a:ext cx="3520440" cy="2240280"/>
          </a:xfrm>
          <a:prstGeom prst="roundRect">
            <a:avLst>
              <a:gd name="adj" fmla="val 3265"/>
            </a:avLst>
          </a:prstGeom>
          <a:solidFill>
            <a:schemeClr val="bg2"/>
          </a:solidFill>
          <a:ln w="12700">
            <a:solidFill>
              <a:schemeClr val="bg2"/>
            </a:solidFill>
            <a:prstDash val="solid"/>
          </a:ln>
        </p:spPr>
      </p:sp>
      <p:sp>
        <p:nvSpPr>
          <p:cNvPr id="9" name="decision1_circulo"/>
          <p:cNvSpPr/>
          <p:nvPr/>
        </p:nvSpPr>
        <p:spPr>
          <a:xfrm>
            <a:off x="4572000" y="1645920"/>
            <a:ext cx="685800" cy="685800"/>
          </a:xfrm>
          <a:prstGeom prst="ellipse">
            <a:avLst/>
          </a:prstGeom>
          <a:solidFill>
            <a:srgbClr val="2A78D6"/>
          </a:solidFill>
          <a:ln w="12700">
            <a:solidFill>
              <a:srgbClr val="2A78D6"/>
            </a:solidFill>
            <a:prstDash val="solid"/>
          </a:ln>
        </p:spPr>
      </p:sp>
      <p:pic>
        <p:nvPicPr>
          <p:cNvPr id="10" name="decision1_icono" descr="preencoded.png">    </p:cNvPr>
          <p:cNvPicPr>
            <a:picLocks noChangeAspect="1"/>
          </p:cNvPicPr>
          <p:nvPr/>
        </p:nvPicPr>
        <p:blipFill>
          <a:blip r:embed="rId2"/>
          <a:stretch>
            <a:fillRect/>
          </a:stretch>
        </p:blipFill>
        <p:spPr>
          <a:xfrm>
            <a:off x="4736592" y="1810512"/>
            <a:ext cx="356616" cy="356616"/>
          </a:xfrm>
          <a:prstGeom prst="rect">
            <a:avLst/>
          </a:prstGeom>
        </p:spPr>
      </p:pic>
      <p:sp>
        <p:nvSpPr>
          <p:cNvPr id="11" name="Text 7"/>
          <p:cNvSpPr txBox="1"/>
          <p:nvPr/>
        </p:nvSpPr>
        <p:spPr>
          <a:xfrm>
            <a:off x="5394960" y="1719072"/>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Horario ≠ vuelo</a:t>
            </a:r>
            <a:endParaRPr lang="en-US" sz="1700" dirty="0"/>
          </a:p>
        </p:txBody>
      </p:sp>
      <p:sp>
        <p:nvSpPr>
          <p:cNvPr id="12" name="Text 8"/>
          <p:cNvSpPr txBox="1"/>
          <p:nvPr/>
        </p:nvSpPr>
        <p:spPr>
          <a:xfrm>
            <a:off x="4572000" y="2468880"/>
            <a:ext cx="3017520" cy="1051560"/>
          </a:xfrm>
          <a:prstGeom prst="rect">
            <a:avLst/>
          </a:prstGeom>
          <a:noFill/>
          <a:ln/>
        </p:spPr>
        <p:txBody>
          <a:bodyPr wrap="square" lIns="0" tIns="0" rIns="0" bIns="0" rtlCol="0" anchor="t"/>
          <a:lstStyle/>
          <a:p>
            <a:pPr indent="0" marL="0">
              <a:buNone/>
            </a:pPr>
            <a:r>
              <a:rPr lang="en-US" sz="1400" dirty="0">
                <a:solidFill>
                  <a:schemeClr val="tx1"/>
                </a:solidFill>
              </a:rPr>
              <a:t>La programación semanal genera los vuelos fechados (procedimiento idempotente)</a:t>
            </a:r>
            <a:endParaRPr lang="en-US" sz="1400" dirty="0"/>
          </a:p>
        </p:txBody>
      </p:sp>
      <p:sp>
        <p:nvSpPr>
          <p:cNvPr id="13" name="decision2"/>
          <p:cNvSpPr/>
          <p:nvPr/>
        </p:nvSpPr>
        <p:spPr>
          <a:xfrm>
            <a:off x="8046720" y="1371600"/>
            <a:ext cx="3520440" cy="2240280"/>
          </a:xfrm>
          <a:prstGeom prst="roundRect">
            <a:avLst>
              <a:gd name="adj" fmla="val 3265"/>
            </a:avLst>
          </a:prstGeom>
          <a:solidFill>
            <a:schemeClr val="bg2"/>
          </a:solidFill>
          <a:ln w="12700">
            <a:solidFill>
              <a:schemeClr val="bg2"/>
            </a:solidFill>
            <a:prstDash val="solid"/>
          </a:ln>
        </p:spPr>
      </p:sp>
      <p:sp>
        <p:nvSpPr>
          <p:cNvPr id="14" name="decision2_circulo"/>
          <p:cNvSpPr/>
          <p:nvPr/>
        </p:nvSpPr>
        <p:spPr>
          <a:xfrm>
            <a:off x="8321040" y="1645920"/>
            <a:ext cx="685800" cy="685800"/>
          </a:xfrm>
          <a:prstGeom prst="ellipse">
            <a:avLst/>
          </a:prstGeom>
          <a:solidFill>
            <a:srgbClr val="2A78D6"/>
          </a:solidFill>
          <a:ln w="12700">
            <a:solidFill>
              <a:srgbClr val="2A78D6"/>
            </a:solidFill>
            <a:prstDash val="solid"/>
          </a:ln>
        </p:spPr>
      </p:sp>
      <p:pic>
        <p:nvPicPr>
          <p:cNvPr id="15" name="decision2_icono" descr="preencoded.png">    </p:cNvPr>
          <p:cNvPicPr>
            <a:picLocks noChangeAspect="1"/>
          </p:cNvPicPr>
          <p:nvPr/>
        </p:nvPicPr>
        <p:blipFill>
          <a:blip r:embed="rId3"/>
          <a:stretch>
            <a:fillRect/>
          </a:stretch>
        </p:blipFill>
        <p:spPr>
          <a:xfrm>
            <a:off x="8485632" y="1810512"/>
            <a:ext cx="356616" cy="356616"/>
          </a:xfrm>
          <a:prstGeom prst="rect">
            <a:avLst/>
          </a:prstGeom>
        </p:spPr>
      </p:pic>
      <p:sp>
        <p:nvSpPr>
          <p:cNvPr id="16" name="Text 11"/>
          <p:cNvSpPr txBox="1"/>
          <p:nvPr/>
        </p:nvSpPr>
        <p:spPr>
          <a:xfrm>
            <a:off x="9144000" y="1719072"/>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Precio histórico</a:t>
            </a:r>
            <a:endParaRPr lang="en-US" sz="1700" dirty="0"/>
          </a:p>
        </p:txBody>
      </p:sp>
      <p:sp>
        <p:nvSpPr>
          <p:cNvPr id="17" name="Text 12"/>
          <p:cNvSpPr txBox="1"/>
          <p:nvPr/>
        </p:nvSpPr>
        <p:spPr>
          <a:xfrm>
            <a:off x="8321040" y="2468880"/>
            <a:ext cx="3017520" cy="1051560"/>
          </a:xfrm>
          <a:prstGeom prst="rect">
            <a:avLst/>
          </a:prstGeom>
          <a:noFill/>
          <a:ln/>
        </p:spPr>
        <p:txBody>
          <a:bodyPr wrap="square" lIns="0" tIns="0" rIns="0" bIns="0" rtlCol="0" anchor="t"/>
          <a:lstStyle/>
          <a:p>
            <a:pPr indent="0" marL="0">
              <a:buNone/>
            </a:pPr>
            <a:r>
              <a:rPr lang="en-US" sz="1400" dirty="0">
                <a:solidFill>
                  <a:schemeClr val="tx1"/>
                </a:solidFill>
              </a:rPr>
              <a:t>El tiquete copia precio y descuento; las tarifas se versionan, no se editan</a:t>
            </a:r>
            <a:endParaRPr lang="en-US" sz="1400" dirty="0"/>
          </a:p>
        </p:txBody>
      </p:sp>
      <p:sp>
        <p:nvSpPr>
          <p:cNvPr id="18" name="decision3"/>
          <p:cNvSpPr/>
          <p:nvPr/>
        </p:nvSpPr>
        <p:spPr>
          <a:xfrm>
            <a:off x="548640" y="3840480"/>
            <a:ext cx="3520440" cy="2240280"/>
          </a:xfrm>
          <a:prstGeom prst="roundRect">
            <a:avLst>
              <a:gd name="adj" fmla="val 3265"/>
            </a:avLst>
          </a:prstGeom>
          <a:solidFill>
            <a:schemeClr val="bg2"/>
          </a:solidFill>
          <a:ln w="12700">
            <a:solidFill>
              <a:schemeClr val="bg2"/>
            </a:solidFill>
            <a:prstDash val="solid"/>
          </a:ln>
        </p:spPr>
      </p:sp>
      <p:sp>
        <p:nvSpPr>
          <p:cNvPr id="19" name="decision3_circulo"/>
          <p:cNvSpPr/>
          <p:nvPr/>
        </p:nvSpPr>
        <p:spPr>
          <a:xfrm>
            <a:off x="822960" y="4114800"/>
            <a:ext cx="685800" cy="685800"/>
          </a:xfrm>
          <a:prstGeom prst="ellipse">
            <a:avLst/>
          </a:prstGeom>
          <a:solidFill>
            <a:srgbClr val="2A78D6"/>
          </a:solidFill>
          <a:ln w="12700">
            <a:solidFill>
              <a:srgbClr val="2A78D6"/>
            </a:solidFill>
            <a:prstDash val="solid"/>
          </a:ln>
        </p:spPr>
      </p:sp>
      <p:pic>
        <p:nvPicPr>
          <p:cNvPr id="20" name="decision3_icono" descr="preencoded.png">    </p:cNvPr>
          <p:cNvPicPr>
            <a:picLocks noChangeAspect="1"/>
          </p:cNvPicPr>
          <p:nvPr/>
        </p:nvPicPr>
        <p:blipFill>
          <a:blip r:embed="rId4"/>
          <a:stretch>
            <a:fillRect/>
          </a:stretch>
        </p:blipFill>
        <p:spPr>
          <a:xfrm>
            <a:off x="987552" y="4279392"/>
            <a:ext cx="356616" cy="356616"/>
          </a:xfrm>
          <a:prstGeom prst="rect">
            <a:avLst/>
          </a:prstGeom>
        </p:spPr>
      </p:pic>
      <p:sp>
        <p:nvSpPr>
          <p:cNvPr id="21" name="Text 15"/>
          <p:cNvSpPr txBox="1"/>
          <p:nvPr/>
        </p:nvSpPr>
        <p:spPr>
          <a:xfrm>
            <a:off x="1645920" y="4187952"/>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Un descuento por tiquete</a:t>
            </a:r>
            <a:endParaRPr lang="en-US" sz="1700" dirty="0"/>
          </a:p>
        </p:txBody>
      </p:sp>
      <p:sp>
        <p:nvSpPr>
          <p:cNvPr id="22" name="Text 16"/>
          <p:cNvSpPr txBox="1"/>
          <p:nvPr/>
        </p:nvSpPr>
        <p:spPr>
          <a:xfrm>
            <a:off x="822960" y="4937760"/>
            <a:ext cx="3017520" cy="1051560"/>
          </a:xfrm>
          <a:prstGeom prst="rect">
            <a:avLst/>
          </a:prstGeom>
          <a:noFill/>
          <a:ln/>
        </p:spPr>
        <p:txBody>
          <a:bodyPr wrap="square" lIns="0" tIns="0" rIns="0" bIns="0" rtlCol="0" anchor="t"/>
          <a:lstStyle/>
          <a:p>
            <a:pPr indent="0" marL="0">
              <a:buNone/>
            </a:pPr>
            <a:r>
              <a:rPr lang="en-US" sz="1400" dirty="0">
                <a:solidFill>
                  <a:schemeClr val="tx1"/>
                </a:solidFill>
              </a:rPr>
              <a:t>Se aplica el mayor disponible; sin acumulación</a:t>
            </a:r>
            <a:endParaRPr lang="en-US" sz="1400" dirty="0"/>
          </a:p>
        </p:txBody>
      </p:sp>
      <p:sp>
        <p:nvSpPr>
          <p:cNvPr id="23" name="decision4"/>
          <p:cNvSpPr/>
          <p:nvPr/>
        </p:nvSpPr>
        <p:spPr>
          <a:xfrm>
            <a:off x="4297680" y="3840480"/>
            <a:ext cx="3520440" cy="2240280"/>
          </a:xfrm>
          <a:prstGeom prst="roundRect">
            <a:avLst>
              <a:gd name="adj" fmla="val 3265"/>
            </a:avLst>
          </a:prstGeom>
          <a:solidFill>
            <a:schemeClr val="bg2"/>
          </a:solidFill>
          <a:ln w="12700">
            <a:solidFill>
              <a:schemeClr val="bg2"/>
            </a:solidFill>
            <a:prstDash val="solid"/>
          </a:ln>
        </p:spPr>
      </p:sp>
      <p:sp>
        <p:nvSpPr>
          <p:cNvPr id="24" name="decision4_circulo"/>
          <p:cNvSpPr/>
          <p:nvPr/>
        </p:nvSpPr>
        <p:spPr>
          <a:xfrm>
            <a:off x="4572000" y="4114800"/>
            <a:ext cx="685800" cy="685800"/>
          </a:xfrm>
          <a:prstGeom prst="ellipse">
            <a:avLst/>
          </a:prstGeom>
          <a:solidFill>
            <a:srgbClr val="2A78D6"/>
          </a:solidFill>
          <a:ln w="12700">
            <a:solidFill>
              <a:srgbClr val="2A78D6"/>
            </a:solidFill>
            <a:prstDash val="solid"/>
          </a:ln>
        </p:spPr>
      </p:sp>
      <p:pic>
        <p:nvPicPr>
          <p:cNvPr id="25" name="decision4_icono" descr="preencoded.png">    </p:cNvPr>
          <p:cNvPicPr>
            <a:picLocks noChangeAspect="1"/>
          </p:cNvPicPr>
          <p:nvPr/>
        </p:nvPicPr>
        <p:blipFill>
          <a:blip r:embed="rId5"/>
          <a:stretch>
            <a:fillRect/>
          </a:stretch>
        </p:blipFill>
        <p:spPr>
          <a:xfrm>
            <a:off x="4736592" y="4279392"/>
            <a:ext cx="356616" cy="356616"/>
          </a:xfrm>
          <a:prstGeom prst="rect">
            <a:avLst/>
          </a:prstGeom>
        </p:spPr>
      </p:pic>
      <p:sp>
        <p:nvSpPr>
          <p:cNvPr id="26" name="Text 19"/>
          <p:cNvSpPr txBox="1"/>
          <p:nvPr/>
        </p:nvSpPr>
        <p:spPr>
          <a:xfrm>
            <a:off x="5394960" y="4187952"/>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Pagos parciales</a:t>
            </a:r>
            <a:endParaRPr lang="en-US" sz="1700" dirty="0"/>
          </a:p>
        </p:txBody>
      </p:sp>
      <p:sp>
        <p:nvSpPr>
          <p:cNvPr id="27" name="Text 20"/>
          <p:cNvSpPr txBox="1"/>
          <p:nvPr/>
        </p:nvSpPr>
        <p:spPr>
          <a:xfrm>
            <a:off x="4572000" y="4937760"/>
            <a:ext cx="3017520" cy="1051560"/>
          </a:xfrm>
          <a:prstGeom prst="rect">
            <a:avLst/>
          </a:prstGeom>
          <a:noFill/>
          <a:ln/>
        </p:spPr>
        <p:txBody>
          <a:bodyPr wrap="square" lIns="0" tIns="0" rIns="0" bIns="0" rtlCol="0" anchor="t"/>
          <a:lstStyle/>
          <a:p>
            <a:pPr indent="0" marL="0">
              <a:buNone/>
            </a:pPr>
            <a:r>
              <a:rPr lang="en-US" sz="1400" dirty="0">
                <a:solidFill>
                  <a:schemeClr val="tx1"/>
                </a:solidFill>
              </a:rPr>
              <a:t>Varios pagos; se emite al completar; la reserva vence a las 72 h</a:t>
            </a:r>
            <a:endParaRPr lang="en-US" sz="1400" dirty="0"/>
          </a:p>
        </p:txBody>
      </p:sp>
      <p:sp>
        <p:nvSpPr>
          <p:cNvPr id="28" name="decision5"/>
          <p:cNvSpPr/>
          <p:nvPr/>
        </p:nvSpPr>
        <p:spPr>
          <a:xfrm>
            <a:off x="8046720" y="3840480"/>
            <a:ext cx="3520440" cy="2240280"/>
          </a:xfrm>
          <a:prstGeom prst="roundRect">
            <a:avLst>
              <a:gd name="adj" fmla="val 3265"/>
            </a:avLst>
          </a:prstGeom>
          <a:solidFill>
            <a:schemeClr val="bg2"/>
          </a:solidFill>
          <a:ln w="12700">
            <a:solidFill>
              <a:schemeClr val="bg2"/>
            </a:solidFill>
            <a:prstDash val="solid"/>
          </a:ln>
        </p:spPr>
      </p:sp>
      <p:sp>
        <p:nvSpPr>
          <p:cNvPr id="29" name="decision5_circulo"/>
          <p:cNvSpPr/>
          <p:nvPr/>
        </p:nvSpPr>
        <p:spPr>
          <a:xfrm>
            <a:off x="8321040" y="4114800"/>
            <a:ext cx="685800" cy="685800"/>
          </a:xfrm>
          <a:prstGeom prst="ellipse">
            <a:avLst/>
          </a:prstGeom>
          <a:solidFill>
            <a:srgbClr val="2A78D6"/>
          </a:solidFill>
          <a:ln w="12700">
            <a:solidFill>
              <a:srgbClr val="2A78D6"/>
            </a:solidFill>
            <a:prstDash val="solid"/>
          </a:ln>
        </p:spPr>
      </p:sp>
      <p:pic>
        <p:nvPicPr>
          <p:cNvPr id="30" name="decision5_icono" descr="preencoded.png">    </p:cNvPr>
          <p:cNvPicPr>
            <a:picLocks noChangeAspect="1"/>
          </p:cNvPicPr>
          <p:nvPr/>
        </p:nvPicPr>
        <p:blipFill>
          <a:blip r:embed="rId6"/>
          <a:stretch>
            <a:fillRect/>
          </a:stretch>
        </p:blipFill>
        <p:spPr>
          <a:xfrm>
            <a:off x="8485632" y="4279392"/>
            <a:ext cx="356616" cy="356616"/>
          </a:xfrm>
          <a:prstGeom prst="rect">
            <a:avLst/>
          </a:prstGeom>
        </p:spPr>
      </p:pic>
      <p:sp>
        <p:nvSpPr>
          <p:cNvPr id="31" name="Text 23"/>
          <p:cNvSpPr txBox="1"/>
          <p:nvPr/>
        </p:nvSpPr>
        <p:spPr>
          <a:xfrm>
            <a:off x="9144000" y="4187952"/>
            <a:ext cx="2286000" cy="548640"/>
          </a:xfrm>
          <a:prstGeom prst="rect">
            <a:avLst/>
          </a:prstGeom>
          <a:noFill/>
          <a:ln/>
        </p:spPr>
        <p:txBody>
          <a:bodyPr wrap="square" lIns="0" tIns="0" rIns="0" bIns="0" rtlCol="0" anchor="ctr"/>
          <a:lstStyle/>
          <a:p>
            <a:pPr indent="0" marL="0">
              <a:buNone/>
            </a:pPr>
            <a:r>
              <a:rPr lang="en-US" sz="1700" b="1" dirty="0">
                <a:solidFill>
                  <a:schemeClr val="tx2"/>
                </a:solidFill>
              </a:rPr>
              <a:t>Zonas horarias</a:t>
            </a:r>
            <a:endParaRPr lang="en-US" sz="1700" dirty="0"/>
          </a:p>
        </p:txBody>
      </p:sp>
      <p:sp>
        <p:nvSpPr>
          <p:cNvPr id="32" name="Text 24"/>
          <p:cNvSpPr txBox="1"/>
          <p:nvPr/>
        </p:nvSpPr>
        <p:spPr>
          <a:xfrm>
            <a:off x="8321040" y="4937760"/>
            <a:ext cx="3017520" cy="1051560"/>
          </a:xfrm>
          <a:prstGeom prst="rect">
            <a:avLst/>
          </a:prstGeom>
          <a:noFill/>
          <a:ln/>
        </p:spPr>
        <p:txBody>
          <a:bodyPr wrap="square" lIns="0" tIns="0" rIns="0" bIns="0" rtlCol="0" anchor="t"/>
          <a:lstStyle/>
          <a:p>
            <a:pPr indent="0" marL="0">
              <a:buNone/>
            </a:pPr>
            <a:r>
              <a:rPr lang="en-US" sz="1400" dirty="0">
                <a:solidFill>
                  <a:schemeClr val="tx1"/>
                </a:solidFill>
              </a:rPr>
              <a:t>Hora local con desfase para el pasajero; UTC para las transacciones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Arquitectura: el motor garantiza, Python reproduce</a:t>
            </a:r>
            <a:endParaRPr lang="en-US" sz="3200" dirty="0"/>
          </a:p>
        </p:txBody>
      </p:sp>
      <p:pic>
        <p:nvPicPr>
          <p:cNvPr id="3" name="arquitectura" descr="Diagrama de arquitectura: laptop con SSMS y Python, SQL Server local y Azure SQL Database">    </p:cNvPr>
          <p:cNvPicPr>
            <a:picLocks noChangeAspect="1"/>
          </p:cNvPicPr>
          <p:nvPr/>
        </p:nvPicPr>
        <p:blipFill>
          <a:blip r:embed="rId1"/>
          <a:srcRect l="0" r="0" t="0" b="0"/>
          <a:stretch/>
        </p:blipFill>
        <p:spPr>
          <a:xfrm>
            <a:off x="548640" y="1280160"/>
            <a:ext cx="6035040" cy="4846320"/>
          </a:xfrm>
          <a:prstGeom prst="rect">
            <a:avLst/>
          </a:prstGeom>
        </p:spPr>
      </p:pic>
      <p:sp>
        <p:nvSpPr>
          <p:cNvPr id="4" name="arq0"/>
          <p:cNvSpPr/>
          <p:nvPr/>
        </p:nvSpPr>
        <p:spPr>
          <a:xfrm>
            <a:off x="6949440" y="1417320"/>
            <a:ext cx="4663440" cy="1005840"/>
          </a:xfrm>
          <a:prstGeom prst="roundRect">
            <a:avLst>
              <a:gd name="adj" fmla="val 7273"/>
            </a:avLst>
          </a:prstGeom>
          <a:solidFill>
            <a:schemeClr val="bg2"/>
          </a:solidFill>
          <a:ln w="12700">
            <a:solidFill>
              <a:schemeClr val="bg2"/>
            </a:solidFill>
            <a:prstDash val="solid"/>
          </a:ln>
        </p:spPr>
      </p:sp>
      <p:sp>
        <p:nvSpPr>
          <p:cNvPr id="5" name="Text 2"/>
          <p:cNvSpPr txBox="1"/>
          <p:nvPr/>
        </p:nvSpPr>
        <p:spPr>
          <a:xfrm>
            <a:off x="7178040" y="1536192"/>
            <a:ext cx="4297680" cy="822960"/>
          </a:xfrm>
          <a:prstGeom prst="rect">
            <a:avLst/>
          </a:prstGeom>
          <a:noFill/>
          <a:ln/>
        </p:spPr>
        <p:txBody>
          <a:bodyPr wrap="square" lIns="0" tIns="0" rIns="0" bIns="0" rtlCol="0" anchor="t"/>
          <a:lstStyle/>
          <a:p>
            <a:pPr indent="0" marL="0">
              <a:buNone/>
            </a:pPr>
            <a:r>
              <a:rPr lang="en-US" sz="1600" b="1" dirty="0">
                <a:solidFill>
                  <a:schemeClr val="tx2"/>
                </a:solidFill>
              </a:rPr>
              <a:t>Esquemas por área</a:t>
            </a:r>
            <a:endParaRPr lang="en-US" sz="1500" dirty="0"/>
          </a:p>
          <a:p>
            <a:pPr indent="0" marL="0">
              <a:buNone/>
            </a:pPr>
            <a:r>
              <a:rPr lang="en-US" sz="1400" dirty="0">
                <a:solidFill>
                  <a:schemeClr val="tx1"/>
                </a:solidFill>
              </a:rPr>
              <a:t>ref · ops · rh · ven · rpt (reportes) · aud (auditoría)</a:t>
            </a:r>
            <a:endParaRPr lang="en-US" sz="1500" dirty="0"/>
          </a:p>
        </p:txBody>
      </p:sp>
      <p:sp>
        <p:nvSpPr>
          <p:cNvPr id="6" name="arq1"/>
          <p:cNvSpPr/>
          <p:nvPr/>
        </p:nvSpPr>
        <p:spPr>
          <a:xfrm>
            <a:off x="6949440" y="2606040"/>
            <a:ext cx="4663440" cy="1005840"/>
          </a:xfrm>
          <a:prstGeom prst="roundRect">
            <a:avLst>
              <a:gd name="adj" fmla="val 7273"/>
            </a:avLst>
          </a:prstGeom>
          <a:solidFill>
            <a:schemeClr val="bg2"/>
          </a:solidFill>
          <a:ln w="12700">
            <a:solidFill>
              <a:schemeClr val="bg2"/>
            </a:solidFill>
            <a:prstDash val="solid"/>
          </a:ln>
        </p:spPr>
      </p:sp>
      <p:sp>
        <p:nvSpPr>
          <p:cNvPr id="7" name="Text 4"/>
          <p:cNvSpPr txBox="1"/>
          <p:nvPr/>
        </p:nvSpPr>
        <p:spPr>
          <a:xfrm>
            <a:off x="7178040" y="2724912"/>
            <a:ext cx="4297680" cy="822960"/>
          </a:xfrm>
          <a:prstGeom prst="rect">
            <a:avLst/>
          </a:prstGeom>
          <a:noFill/>
          <a:ln/>
        </p:spPr>
        <p:txBody>
          <a:bodyPr wrap="square" lIns="0" tIns="0" rIns="0" bIns="0" rtlCol="0" anchor="t"/>
          <a:lstStyle/>
          <a:p>
            <a:pPr indent="0" marL="0">
              <a:buNone/>
            </a:pPr>
            <a:r>
              <a:rPr lang="en-US" sz="1600" b="1" dirty="0">
                <a:solidFill>
                  <a:schemeClr val="tx2"/>
                </a:solidFill>
              </a:rPr>
              <a:t>El motor garantiza</a:t>
            </a:r>
            <a:endParaRPr lang="en-US" sz="1500" dirty="0"/>
          </a:p>
          <a:p>
            <a:pPr indent="0" marL="0">
              <a:buNone/>
            </a:pPr>
            <a:r>
              <a:rPr lang="en-US" sz="1400" dirty="0">
                <a:solidFill>
                  <a:schemeClr val="tx1"/>
                </a:solidFill>
              </a:rPr>
              <a:t>restricciones, triggers y procedimientos: valen para SSMS, cargas y aplicaciones</a:t>
            </a:r>
            <a:endParaRPr lang="en-US" sz="1500" dirty="0"/>
          </a:p>
        </p:txBody>
      </p:sp>
      <p:sp>
        <p:nvSpPr>
          <p:cNvPr id="8" name="arq2"/>
          <p:cNvSpPr/>
          <p:nvPr/>
        </p:nvSpPr>
        <p:spPr>
          <a:xfrm>
            <a:off x="6949440" y="3794760"/>
            <a:ext cx="4663440" cy="1005840"/>
          </a:xfrm>
          <a:prstGeom prst="roundRect">
            <a:avLst>
              <a:gd name="adj" fmla="val 7273"/>
            </a:avLst>
          </a:prstGeom>
          <a:solidFill>
            <a:schemeClr val="bg2"/>
          </a:solidFill>
          <a:ln w="12700">
            <a:solidFill>
              <a:schemeClr val="bg2"/>
            </a:solidFill>
            <a:prstDash val="solid"/>
          </a:ln>
        </p:spPr>
      </p:sp>
      <p:sp>
        <p:nvSpPr>
          <p:cNvPr id="9" name="Text 6"/>
          <p:cNvSpPr txBox="1"/>
          <p:nvPr/>
        </p:nvSpPr>
        <p:spPr>
          <a:xfrm>
            <a:off x="7178040" y="3913632"/>
            <a:ext cx="4297680" cy="822960"/>
          </a:xfrm>
          <a:prstGeom prst="rect">
            <a:avLst/>
          </a:prstGeom>
          <a:noFill/>
          <a:ln/>
        </p:spPr>
        <p:txBody>
          <a:bodyPr wrap="square" lIns="0" tIns="0" rIns="0" bIns="0" rtlCol="0" anchor="t"/>
          <a:lstStyle/>
          <a:p>
            <a:pPr indent="0" marL="0">
              <a:buNone/>
            </a:pPr>
            <a:r>
              <a:rPr lang="en-US" sz="1600" b="1" dirty="0">
                <a:solidFill>
                  <a:schemeClr val="tx2"/>
                </a:solidFill>
              </a:rPr>
              <a:t>Python reproduce</a:t>
            </a:r>
            <a:endParaRPr lang="en-US" sz="1500" dirty="0"/>
          </a:p>
          <a:p>
            <a:pPr indent="0" marL="0">
              <a:buNone/>
            </a:pPr>
            <a:r>
              <a:rPr lang="en-US" sz="1400" dirty="0">
                <a:solidFill>
                  <a:schemeClr val="tx1"/>
                </a:solidFill>
              </a:rPr>
              <a:t>despliegue, carga, consultas, gráficos, pruebas y documentación</a:t>
            </a:r>
            <a:endParaRPr lang="en-US" sz="1500" dirty="0"/>
          </a:p>
        </p:txBody>
      </p:sp>
      <p:sp>
        <p:nvSpPr>
          <p:cNvPr id="10" name="arq3"/>
          <p:cNvSpPr/>
          <p:nvPr/>
        </p:nvSpPr>
        <p:spPr>
          <a:xfrm>
            <a:off x="6949440" y="4983480"/>
            <a:ext cx="4663440" cy="1005840"/>
          </a:xfrm>
          <a:prstGeom prst="roundRect">
            <a:avLst>
              <a:gd name="adj" fmla="val 7273"/>
            </a:avLst>
          </a:prstGeom>
          <a:solidFill>
            <a:schemeClr val="bg2"/>
          </a:solidFill>
          <a:ln w="12700">
            <a:solidFill>
              <a:schemeClr val="bg2"/>
            </a:solidFill>
            <a:prstDash val="solid"/>
          </a:ln>
        </p:spPr>
      </p:sp>
      <p:sp>
        <p:nvSpPr>
          <p:cNvPr id="11" name="Text 8"/>
          <p:cNvSpPr txBox="1"/>
          <p:nvPr/>
        </p:nvSpPr>
        <p:spPr>
          <a:xfrm>
            <a:off x="7178040" y="5102352"/>
            <a:ext cx="4297680" cy="822960"/>
          </a:xfrm>
          <a:prstGeom prst="rect">
            <a:avLst/>
          </a:prstGeom>
          <a:noFill/>
          <a:ln/>
        </p:spPr>
        <p:txBody>
          <a:bodyPr wrap="square" lIns="0" tIns="0" rIns="0" bIns="0" rtlCol="0" anchor="t"/>
          <a:lstStyle/>
          <a:p>
            <a:pPr indent="0" marL="0">
              <a:buNone/>
            </a:pPr>
            <a:r>
              <a:rPr lang="en-US" sz="1600" b="1" dirty="0">
                <a:solidFill>
                  <a:schemeClr val="tx2"/>
                </a:solidFill>
              </a:rPr>
              <a:t>Seguridad</a:t>
            </a:r>
            <a:endParaRPr lang="en-US" sz="1500" dirty="0"/>
          </a:p>
          <a:p>
            <a:pPr indent="0" marL="0">
              <a:buNone/>
            </a:pPr>
            <a:r>
              <a:rPr lang="en-US" sz="1400" dirty="0">
                <a:solidFill>
                  <a:schemeClr val="tx1"/>
                </a:solidFill>
              </a:rPr>
              <a:t>cifrado siempre; Windows en local; Entra ID y certificado validado en Azure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Modelo conceptual: 19 entidades alrededor del tiquete</a:t>
            </a:r>
            <a:endParaRPr lang="en-US" sz="3200" dirty="0"/>
          </a:p>
        </p:txBody>
      </p:sp>
      <p:pic>
        <p:nvPicPr>
          <p:cNvPr id="3" name="conceptual" descr="Modelo conceptual entidad-relación">    </p:cNvPr>
          <p:cNvPicPr>
            <a:picLocks noChangeAspect="1"/>
          </p:cNvPicPr>
          <p:nvPr/>
        </p:nvPicPr>
        <p:blipFill>
          <a:blip r:embed="rId1"/>
          <a:srcRect l="0" r="0" t="0" b="0"/>
          <a:stretch/>
        </p:blipFill>
        <p:spPr>
          <a:xfrm>
            <a:off x="548640" y="1234440"/>
            <a:ext cx="5577840" cy="4983480"/>
          </a:xfrm>
          <a:prstGeom prst="rect">
            <a:avLst/>
          </a:prstGeom>
        </p:spPr>
      </p:pic>
      <p:sp>
        <p:nvSpPr>
          <p:cNvPr id="4" name="concepto0_circulo"/>
          <p:cNvSpPr/>
          <p:nvPr/>
        </p:nvSpPr>
        <p:spPr>
          <a:xfrm>
            <a:off x="6492240" y="1371600"/>
            <a:ext cx="685800" cy="685800"/>
          </a:xfrm>
          <a:prstGeom prst="ellipse">
            <a:avLst/>
          </a:prstGeom>
          <a:solidFill>
            <a:srgbClr val="EB6834"/>
          </a:solidFill>
          <a:ln w="12700">
            <a:solidFill>
              <a:srgbClr val="EB6834"/>
            </a:solidFill>
            <a:prstDash val="solid"/>
          </a:ln>
        </p:spPr>
      </p:sp>
      <p:pic>
        <p:nvPicPr>
          <p:cNvPr id="5" name="concepto0_icono" descr="preencoded.png">    </p:cNvPr>
          <p:cNvPicPr>
            <a:picLocks noChangeAspect="1"/>
          </p:cNvPicPr>
          <p:nvPr/>
        </p:nvPicPr>
        <p:blipFill>
          <a:blip r:embed="rId2"/>
          <a:stretch>
            <a:fillRect/>
          </a:stretch>
        </p:blipFill>
        <p:spPr>
          <a:xfrm>
            <a:off x="6656832" y="1536192"/>
            <a:ext cx="356616" cy="356616"/>
          </a:xfrm>
          <a:prstGeom prst="rect">
            <a:avLst/>
          </a:prstGeom>
        </p:spPr>
      </p:pic>
      <p:sp>
        <p:nvSpPr>
          <p:cNvPr id="6" name="Text 2"/>
          <p:cNvSpPr txBox="1"/>
          <p:nvPr/>
        </p:nvSpPr>
        <p:spPr>
          <a:xfrm>
            <a:off x="7360920" y="1353312"/>
            <a:ext cx="4206240" cy="1371600"/>
          </a:xfrm>
          <a:prstGeom prst="rect">
            <a:avLst/>
          </a:prstGeom>
          <a:noFill/>
          <a:ln/>
        </p:spPr>
        <p:txBody>
          <a:bodyPr wrap="square" lIns="0" tIns="0" rIns="0" bIns="0" rtlCol="0" anchor="t"/>
          <a:lstStyle/>
          <a:p>
            <a:pPr indent="0" marL="0">
              <a:buNone/>
            </a:pPr>
            <a:r>
              <a:rPr lang="en-US" sz="1700" b="1" dirty="0">
                <a:solidFill>
                  <a:schemeClr val="tx2"/>
                </a:solidFill>
              </a:rPr>
              <a:t>CUPO_CABINA</a:t>
            </a:r>
            <a:endParaRPr lang="en-US" sz="1500" dirty="0"/>
          </a:p>
          <a:p>
            <a:pPr indent="0" marL="0">
              <a:buNone/>
            </a:pPr>
            <a:r>
              <a:rPr lang="en-US" sz="1400" dirty="0">
                <a:solidFill>
                  <a:schemeClr val="tx1"/>
                </a:solidFill>
              </a:rPr>
              <a:t>Capacidad de una cabina en un vuelo. Es la fila que se bloquea al vender: la base del control de sobreventa.</a:t>
            </a:r>
            <a:endParaRPr lang="en-US" sz="1500" dirty="0"/>
          </a:p>
        </p:txBody>
      </p:sp>
      <p:sp>
        <p:nvSpPr>
          <p:cNvPr id="7" name="concepto1_circulo"/>
          <p:cNvSpPr/>
          <p:nvPr/>
        </p:nvSpPr>
        <p:spPr>
          <a:xfrm>
            <a:off x="6492240" y="2971800"/>
            <a:ext cx="685800" cy="685800"/>
          </a:xfrm>
          <a:prstGeom prst="ellipse">
            <a:avLst/>
          </a:prstGeom>
          <a:solidFill>
            <a:srgbClr val="EB6834"/>
          </a:solidFill>
          <a:ln w="12700">
            <a:solidFill>
              <a:srgbClr val="EB6834"/>
            </a:solidFill>
            <a:prstDash val="solid"/>
          </a:ln>
        </p:spPr>
      </p:sp>
      <p:pic>
        <p:nvPicPr>
          <p:cNvPr id="8" name="concepto1_icono" descr="preencoded.png">    </p:cNvPr>
          <p:cNvPicPr>
            <a:picLocks noChangeAspect="1"/>
          </p:cNvPicPr>
          <p:nvPr/>
        </p:nvPicPr>
        <p:blipFill>
          <a:blip r:embed="rId3"/>
          <a:stretch>
            <a:fillRect/>
          </a:stretch>
        </p:blipFill>
        <p:spPr>
          <a:xfrm>
            <a:off x="6656832" y="3136392"/>
            <a:ext cx="356616" cy="356616"/>
          </a:xfrm>
          <a:prstGeom prst="rect">
            <a:avLst/>
          </a:prstGeom>
        </p:spPr>
      </p:pic>
      <p:sp>
        <p:nvSpPr>
          <p:cNvPr id="9" name="Text 4"/>
          <p:cNvSpPr txBox="1"/>
          <p:nvPr/>
        </p:nvSpPr>
        <p:spPr>
          <a:xfrm>
            <a:off x="7360920" y="2953512"/>
            <a:ext cx="4206240" cy="1371600"/>
          </a:xfrm>
          <a:prstGeom prst="rect">
            <a:avLst/>
          </a:prstGeom>
          <a:noFill/>
          <a:ln/>
        </p:spPr>
        <p:txBody>
          <a:bodyPr wrap="square" lIns="0" tIns="0" rIns="0" bIns="0" rtlCol="0" anchor="t"/>
          <a:lstStyle/>
          <a:p>
            <a:pPr indent="0" marL="0">
              <a:buNone/>
            </a:pPr>
            <a:r>
              <a:rPr lang="en-US" sz="1700" b="1" dirty="0">
                <a:solidFill>
                  <a:schemeClr val="tx2"/>
                </a:solidFill>
              </a:rPr>
              <a:t>PERSONA → CLIENTE</a:t>
            </a:r>
            <a:endParaRPr lang="en-US" sz="1500" dirty="0"/>
          </a:p>
          <a:p>
            <a:pPr indent="0" marL="0">
              <a:buNone/>
            </a:pPr>
            <a:r>
              <a:rPr lang="en-US" sz="1400" dirty="0">
                <a:solidFill>
                  <a:schemeClr val="tx1"/>
                </a:solidFill>
              </a:rPr>
              <a:t>Subtipo 1:0..1: resuelve la compra sin registro.</a:t>
            </a:r>
            <a:endParaRPr lang="en-US" sz="1500" dirty="0"/>
          </a:p>
        </p:txBody>
      </p:sp>
      <p:sp>
        <p:nvSpPr>
          <p:cNvPr id="10" name="concepto2_circulo"/>
          <p:cNvSpPr/>
          <p:nvPr/>
        </p:nvSpPr>
        <p:spPr>
          <a:xfrm>
            <a:off x="6492240" y="4572000"/>
            <a:ext cx="685800" cy="685800"/>
          </a:xfrm>
          <a:prstGeom prst="ellipse">
            <a:avLst/>
          </a:prstGeom>
          <a:solidFill>
            <a:srgbClr val="EB6834"/>
          </a:solidFill>
          <a:ln w="12700">
            <a:solidFill>
              <a:srgbClr val="EB6834"/>
            </a:solidFill>
            <a:prstDash val="solid"/>
          </a:ln>
        </p:spPr>
      </p:sp>
      <p:pic>
        <p:nvPicPr>
          <p:cNvPr id="11" name="concepto2_icono" descr="preencoded.png">    </p:cNvPr>
          <p:cNvPicPr>
            <a:picLocks noChangeAspect="1"/>
          </p:cNvPicPr>
          <p:nvPr/>
        </p:nvPicPr>
        <p:blipFill>
          <a:blip r:embed="rId4"/>
          <a:stretch>
            <a:fillRect/>
          </a:stretch>
        </p:blipFill>
        <p:spPr>
          <a:xfrm>
            <a:off x="6656832" y="4736592"/>
            <a:ext cx="356616" cy="356616"/>
          </a:xfrm>
          <a:prstGeom prst="rect">
            <a:avLst/>
          </a:prstGeom>
        </p:spPr>
      </p:pic>
      <p:sp>
        <p:nvSpPr>
          <p:cNvPr id="12" name="Text 6"/>
          <p:cNvSpPr txBox="1"/>
          <p:nvPr/>
        </p:nvSpPr>
        <p:spPr>
          <a:xfrm>
            <a:off x="7360920" y="4553712"/>
            <a:ext cx="4206240" cy="1371600"/>
          </a:xfrm>
          <a:prstGeom prst="rect">
            <a:avLst/>
          </a:prstGeom>
          <a:noFill/>
          <a:ln/>
        </p:spPr>
        <p:txBody>
          <a:bodyPr wrap="square" lIns="0" tIns="0" rIns="0" bIns="0" rtlCol="0" anchor="t"/>
          <a:lstStyle/>
          <a:p>
            <a:pPr indent="0" marL="0">
              <a:buNone/>
            </a:pPr>
            <a:r>
              <a:rPr lang="en-US" sz="1700" b="1" dirty="0">
                <a:solidFill>
                  <a:schemeClr val="tx2"/>
                </a:solidFill>
              </a:rPr>
              <a:t>RUTA → PROGRAMACIÓN → VUELO</a:t>
            </a:r>
            <a:endParaRPr lang="en-US" sz="1500" dirty="0"/>
          </a:p>
          <a:p>
            <a:pPr indent="0" marL="0">
              <a:buNone/>
            </a:pPr>
            <a:r>
              <a:rPr lang="en-US" sz="1400" dirty="0">
                <a:solidFill>
                  <a:schemeClr val="tx1"/>
                </a:solidFill>
              </a:rPr>
              <a:t>Del par origen-destino al horario semanal y a la salida fechada.</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3FN con seis redundancias deliberadas y controladas</a:t>
            </a:r>
            <a:endParaRPr lang="en-US" sz="3200" dirty="0"/>
          </a:p>
        </p:txBody>
      </p:sp>
      <p:sp>
        <p:nvSpPr>
          <p:cNvPr id="3" name="planilla"/>
          <p:cNvSpPr/>
          <p:nvPr/>
        </p:nvSpPr>
        <p:spPr>
          <a:xfrm>
            <a:off x="548640" y="1325880"/>
            <a:ext cx="3840480" cy="4800600"/>
          </a:xfrm>
          <a:prstGeom prst="roundRect">
            <a:avLst>
              <a:gd name="adj" fmla="val 1905"/>
            </a:avLst>
          </a:prstGeom>
          <a:solidFill>
            <a:schemeClr val="bg2"/>
          </a:solidFill>
          <a:ln w="12700">
            <a:solidFill>
              <a:schemeClr val="bg2"/>
            </a:solidFill>
            <a:prstDash val="solid"/>
          </a:ln>
        </p:spPr>
      </p:sp>
      <p:sp>
        <p:nvSpPr>
          <p:cNvPr id="4" name="Text 2"/>
          <p:cNvSpPr txBox="1"/>
          <p:nvPr/>
        </p:nvSpPr>
        <p:spPr>
          <a:xfrm>
            <a:off x="777240" y="1554480"/>
            <a:ext cx="3429000" cy="4480560"/>
          </a:xfrm>
          <a:prstGeom prst="rect">
            <a:avLst/>
          </a:prstGeom>
          <a:noFill/>
          <a:ln/>
        </p:spPr>
        <p:txBody>
          <a:bodyPr wrap="square" lIns="0" tIns="0" rIns="0" bIns="0" rtlCol="0" anchor="t"/>
          <a:lstStyle/>
          <a:p>
            <a:pPr indent="0" marL="0">
              <a:spcAft>
                <a:spcPts val="800"/>
              </a:spcAft>
              <a:buNone/>
            </a:pPr>
            <a:r>
              <a:rPr lang="en-US" sz="1700" b="1" dirty="0">
                <a:solidFill>
                  <a:schemeClr val="tx2"/>
                </a:solidFill>
              </a:rPr>
              <a:t>Punto de partida: una planilla de ventas</a:t>
            </a:r>
            <a:endParaRPr lang="en-US" sz="1400" dirty="0"/>
          </a:p>
          <a:p>
            <a:pPr marL="342900" indent="-342900">
              <a:spcAft>
                <a:spcPts val="800"/>
              </a:spcAft>
              <a:buSzPct val="100000"/>
              <a:buChar char="•"/>
            </a:pPr>
            <a:r>
              <a:rPr lang="en-US" sz="1400" dirty="0">
                <a:solidFill>
                  <a:schemeClr val="tx1"/>
                </a:solidFill>
              </a:rPr>
              <a:t>Pagos y días de operación como listas (viola 1FN)</a:t>
            </a:r>
            <a:endParaRPr lang="en-US" sz="1400" dirty="0"/>
          </a:p>
          <a:p>
            <a:pPr marL="342900" indent="-342900">
              <a:spcAft>
                <a:spcPts val="800"/>
              </a:spcAft>
              <a:buSzPct val="100000"/>
              <a:buChar char="•"/>
            </a:pPr>
            <a:r>
              <a:rPr lang="en-US" sz="1400" dirty="0">
                <a:solidFill>
                  <a:schemeClr val="tx1"/>
                </a:solidFill>
              </a:rPr>
              <a:t>Cambiar la hora del XX101 exige editar miles de filas</a:t>
            </a:r>
            <a:endParaRPr lang="en-US" sz="1400" dirty="0"/>
          </a:p>
          <a:p>
            <a:pPr marL="342900" indent="-342900">
              <a:spcAft>
                <a:spcPts val="800"/>
              </a:spcAft>
              <a:buSzPct val="100000"/>
              <a:buChar char="•"/>
            </a:pPr>
            <a:r>
              <a:rPr lang="en-US" sz="1400" dirty="0">
                <a:solidFill>
                  <a:schemeClr val="tx1"/>
                </a:solidFill>
              </a:rPr>
              <a:t>Borrar los tiquetes de un vuelo borra el avión</a:t>
            </a:r>
            <a:endParaRPr lang="en-US" sz="1400" dirty="0"/>
          </a:p>
          <a:p>
            <a:pPr marL="342900" indent="-342900">
              <a:spcAft>
                <a:spcPts val="800"/>
              </a:spcAft>
              <a:buSzPct val="100000"/>
              <a:buChar char="•"/>
            </a:pPr>
            <a:r>
              <a:rPr lang="en-US" sz="1400" dirty="0">
                <a:solidFill>
                  <a:schemeClr val="tx1"/>
                </a:solidFill>
              </a:rPr>
              <a:t>Descomposición por dependencias funcionales: tiquete → vuelo → programación → ruta → aeropuertos</a:t>
            </a:r>
            <a:endParaRPr lang="en-US" sz="1400" dirty="0"/>
          </a:p>
        </p:txBody>
      </p:sp>
      <p:graphicFrame>
        <p:nvGraphicFramePr>
          <p:cNvPr id="7" name="desnormalizaciones"/>
          <p:cNvGraphicFramePr>
            <a:graphicFrameLocks noGrp="1"/>
          </p:cNvGraphicFramePr>
          <p:nvPr>
            <p:extLst>
              <p:ext uri="{D42A27DB-BD31-4B8C-83A1-F6EECF244321}">
                <p14:modId xmlns:p14="http://schemas.microsoft.com/office/powerpoint/2010/main" val="1579011935"/>
              </p:ext>
            </p:extLst>
          </p:nvPr>
        </p:nvGraphicFramePr>
        <p:xfrm>
          <a:off x="4663440" y="1325880"/>
          <a:ext cx="6949440" cy="914400"/>
        </p:xfrm>
        <a:graphic>
          <a:graphicData uri="http://schemas.openxmlformats.org/drawingml/2006/table">
            <a:tbl>
              <a:tblPr/>
              <a:tblGrid>
                <a:gridCol w="2743200"/>
                <a:gridCol w="4206240"/>
              </a:tblGrid>
              <a:tr h="640080">
                <a:tc>
                  <a:txBody>
                    <a:bodyPr/>
                    <a:lstStyle/>
                    <a:p>
                      <a:pPr indent="0" marL="0">
                        <a:buNone/>
                      </a:pPr>
                      <a:r>
                        <a:rPr lang="en-US" sz="1300" b="1" dirty="0">
                          <a:solidFill>
                            <a:schemeClr val="bg1"/>
                          </a:solidFill>
                        </a:rPr>
                        <a:t>Redundancia</a:t>
                      </a:r>
                      <a:endParaRPr lang="en-US" sz="130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Control que evita la anomalía</a:t>
                      </a:r>
                      <a:endParaRPr lang="en-US" sz="130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2"/>
                    </a:solidFill>
                  </a:tcPr>
                </a:tc>
              </a:tr>
              <a:tr h="640080">
                <a:tc>
                  <a:txBody>
                    <a:bodyPr/>
                    <a:lstStyle/>
                    <a:p>
                      <a:pPr indent="0" marL="0">
                        <a:buNone/>
                      </a:pPr>
                      <a:r>
                        <a:rPr lang="en-US" sz="1300" dirty="0">
                          <a:solidFill>
                            <a:srgbClr val="0B0B0B"/>
                          </a:solidFill>
                        </a:rPr>
                        <a:t>Precio y % de descuento en el tiquete</a:t>
                      </a:r>
                      <a:endParaRPr lang="en-US" sz="130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Trigger valida la copia; precio inmutable; tarifas versionadas</a:t>
                      </a:r>
                      <a:endParaRPr lang="en-US" sz="130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40080">
                <a:tc>
                  <a:txBody>
                    <a:bodyPr/>
                    <a:lstStyle/>
                    <a:p>
                      <a:pPr indent="0" marL="0">
                        <a:buNone/>
                      </a:pPr>
                      <a:r>
                        <a:rPr lang="en-US" sz="1300" dirty="0">
                          <a:solidFill>
                            <a:srgbClr val="0B0B0B"/>
                          </a:solidFill>
                        </a:rPr>
                        <a:t>Plazas ocupadas por vuelo y cabina</a:t>
                      </a:r>
                      <a:endParaRPr lang="en-US" sz="130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Trigger en la misma transacción + CHECK ≤ capacidad + conciliación</a:t>
                      </a:r>
                      <a:endParaRPr lang="en-US" sz="130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40080">
                <a:tc>
                  <a:txBody>
                    <a:bodyPr/>
                    <a:lstStyle/>
                    <a:p>
                      <a:pPr indent="0" marL="0">
                        <a:buNone/>
                      </a:pPr>
                      <a:r>
                        <a:rPr lang="en-US" sz="1300" dirty="0">
                          <a:solidFill>
                            <a:srgbClr val="0B0B0B"/>
                          </a:solidFill>
                        </a:rPr>
                        <a:t>Capacidad por vuelo y cabina</a:t>
                      </a:r>
                      <a:endParaRPr lang="en-US" sz="130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Se sincroniza al asignar avión; no se cambia de configuración con ventas</a:t>
                      </a:r>
                      <a:endParaRPr lang="en-US" sz="130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40080">
                <a:tc>
                  <a:txBody>
                    <a:bodyPr/>
                    <a:lstStyle/>
                    <a:p>
                      <a:pPr indent="0" marL="0">
                        <a:buNone/>
                      </a:pPr>
                      <a:r>
                        <a:rPr lang="en-US" sz="1300" dirty="0">
                          <a:solidFill>
                            <a:srgbClr val="0B0B0B"/>
                          </a:solidFill>
                        </a:rPr>
                        <a:t>Fecha local de salida</a:t>
                      </a:r>
                      <a:endParaRPr lang="en-US" sz="130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Columna calculada persistida</a:t>
                      </a:r>
                      <a:endParaRPr lang="en-US" sz="130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40080">
                <a:tc>
                  <a:txBody>
                    <a:bodyPr/>
                    <a:lstStyle/>
                    <a:p>
                      <a:pPr indent="0" marL="0">
                        <a:buNone/>
                      </a:pPr>
                      <a:r>
                        <a:rPr lang="en-US" sz="1300" dirty="0">
                          <a:solidFill>
                            <a:srgbClr val="0B0B0B"/>
                          </a:solidFill>
                        </a:rPr>
                        <a:t>Tipo «AER» en aeropuerto</a:t>
                      </a:r>
                      <a:endParaRPr lang="en-US" sz="130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Columna calculada + FK compuesta al supertipo</a:t>
                      </a:r>
                      <a:endParaRPr lang="en-US" sz="130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40080">
                <a:tc>
                  <a:txBody>
                    <a:bodyPr/>
                    <a:lstStyle/>
                    <a:p>
                      <a:pPr indent="0" marL="0">
                        <a:buNone/>
                      </a:pPr>
                      <a:r>
                        <a:rPr lang="en-US" sz="1300" dirty="0">
                          <a:solidFill>
                            <a:srgbClr val="0B0B0B"/>
                          </a:solidFill>
                        </a:rPr>
                        <a:t>Cabina junto a la tarifa en el tiquete</a:t>
                      </a:r>
                      <a:endParaRPr lang="en-US" sz="130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rPr>
                        <a:t>Dos FK compuestas: cabina existe en el vuelo y es la de la tarifa</a:t>
                      </a:r>
                      <a:endParaRPr lang="en-US" sz="130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La base rechaza lo inválido, venga de donde venga</a:t>
            </a:r>
            <a:endParaRPr lang="en-US" sz="3200" dirty="0"/>
          </a:p>
        </p:txBody>
      </p:sp>
      <p:sp>
        <p:nvSpPr>
          <p:cNvPr id="3" name="stat0"/>
          <p:cNvSpPr/>
          <p:nvPr/>
        </p:nvSpPr>
        <p:spPr>
          <a:xfrm>
            <a:off x="548640" y="1325880"/>
            <a:ext cx="2606040" cy="1600200"/>
          </a:xfrm>
          <a:prstGeom prst="roundRect">
            <a:avLst>
              <a:gd name="adj" fmla="val 4571"/>
            </a:avLst>
          </a:prstGeom>
          <a:solidFill>
            <a:schemeClr val="bg2"/>
          </a:solidFill>
          <a:ln w="12700">
            <a:solidFill>
              <a:schemeClr val="bg2"/>
            </a:solidFill>
            <a:prstDash val="solid"/>
          </a:ln>
        </p:spPr>
      </p:sp>
      <p:sp>
        <p:nvSpPr>
          <p:cNvPr id="4" name="Text 2"/>
          <p:cNvSpPr txBox="1"/>
          <p:nvPr/>
        </p:nvSpPr>
        <p:spPr>
          <a:xfrm>
            <a:off x="548640" y="1417320"/>
            <a:ext cx="2606040" cy="868680"/>
          </a:xfrm>
          <a:prstGeom prst="rect">
            <a:avLst/>
          </a:prstGeom>
          <a:noFill/>
          <a:ln/>
        </p:spPr>
        <p:txBody>
          <a:bodyPr wrap="square" lIns="0" tIns="0" rIns="0" bIns="0" rtlCol="0" anchor="t"/>
          <a:lstStyle/>
          <a:p>
            <a:pPr algn="ctr" indent="0" marL="0">
              <a:buNone/>
            </a:pPr>
            <a:r>
              <a:rPr lang="en-US" sz="4800" b="1" dirty="0">
                <a:solidFill>
                  <a:schemeClr val="accent1"/>
                </a:solidFill>
                <a:latin typeface="Cambria" pitchFamily="34" charset="0"/>
                <a:ea typeface="Cambria" pitchFamily="34" charset="-122"/>
                <a:cs typeface="Cambria" pitchFamily="34" charset="-120"/>
              </a:rPr>
              <a:t>70</a:t>
            </a:r>
            <a:endParaRPr lang="en-US" sz="4800" dirty="0"/>
          </a:p>
        </p:txBody>
      </p:sp>
      <p:sp>
        <p:nvSpPr>
          <p:cNvPr id="5" name="Text 3"/>
          <p:cNvSpPr txBox="1"/>
          <p:nvPr/>
        </p:nvSpPr>
        <p:spPr>
          <a:xfrm>
            <a:off x="548640" y="2331720"/>
            <a:ext cx="2606040" cy="457200"/>
          </a:xfrm>
          <a:prstGeom prst="rect">
            <a:avLst/>
          </a:prstGeom>
          <a:noFill/>
          <a:ln/>
        </p:spPr>
        <p:txBody>
          <a:bodyPr wrap="square" lIns="0" tIns="0" rIns="0" bIns="0" rtlCol="0" anchor="t"/>
          <a:lstStyle/>
          <a:p>
            <a:pPr algn="ctr" indent="0" marL="0">
              <a:buNone/>
            </a:pPr>
            <a:r>
              <a:rPr lang="en-US" sz="1400" dirty="0">
                <a:solidFill>
                  <a:schemeClr val="accent5"/>
                </a:solidFill>
              </a:rPr>
              <a:t>restricciones CHECK</a:t>
            </a:r>
            <a:endParaRPr lang="en-US" sz="1400" dirty="0"/>
          </a:p>
        </p:txBody>
      </p:sp>
      <p:sp>
        <p:nvSpPr>
          <p:cNvPr id="6" name="stat1"/>
          <p:cNvSpPr/>
          <p:nvPr/>
        </p:nvSpPr>
        <p:spPr>
          <a:xfrm>
            <a:off x="3383280" y="1325880"/>
            <a:ext cx="2606040" cy="1600200"/>
          </a:xfrm>
          <a:prstGeom prst="roundRect">
            <a:avLst>
              <a:gd name="adj" fmla="val 4571"/>
            </a:avLst>
          </a:prstGeom>
          <a:solidFill>
            <a:schemeClr val="bg2"/>
          </a:solidFill>
          <a:ln w="12700">
            <a:solidFill>
              <a:schemeClr val="bg2"/>
            </a:solidFill>
            <a:prstDash val="solid"/>
          </a:ln>
        </p:spPr>
      </p:sp>
      <p:sp>
        <p:nvSpPr>
          <p:cNvPr id="7" name="Text 5"/>
          <p:cNvSpPr txBox="1"/>
          <p:nvPr/>
        </p:nvSpPr>
        <p:spPr>
          <a:xfrm>
            <a:off x="3383280" y="1417320"/>
            <a:ext cx="2606040" cy="868680"/>
          </a:xfrm>
          <a:prstGeom prst="rect">
            <a:avLst/>
          </a:prstGeom>
          <a:noFill/>
          <a:ln/>
        </p:spPr>
        <p:txBody>
          <a:bodyPr wrap="square" lIns="0" tIns="0" rIns="0" bIns="0" rtlCol="0" anchor="t"/>
          <a:lstStyle/>
          <a:p>
            <a:pPr algn="ctr" indent="0" marL="0">
              <a:buNone/>
            </a:pPr>
            <a:r>
              <a:rPr lang="en-US" sz="4800" b="1" dirty="0">
                <a:solidFill>
                  <a:schemeClr val="accent1"/>
                </a:solidFill>
                <a:latin typeface="Cambria" pitchFamily="34" charset="0"/>
                <a:ea typeface="Cambria" pitchFamily="34" charset="-122"/>
                <a:cs typeface="Cambria" pitchFamily="34" charset="-120"/>
              </a:rPr>
              <a:t>53</a:t>
            </a:r>
            <a:endParaRPr lang="en-US" sz="4800" dirty="0"/>
          </a:p>
        </p:txBody>
      </p:sp>
      <p:sp>
        <p:nvSpPr>
          <p:cNvPr id="8" name="Text 6"/>
          <p:cNvSpPr txBox="1"/>
          <p:nvPr/>
        </p:nvSpPr>
        <p:spPr>
          <a:xfrm>
            <a:off x="3383280" y="2331720"/>
            <a:ext cx="2606040" cy="457200"/>
          </a:xfrm>
          <a:prstGeom prst="rect">
            <a:avLst/>
          </a:prstGeom>
          <a:noFill/>
          <a:ln/>
        </p:spPr>
        <p:txBody>
          <a:bodyPr wrap="square" lIns="0" tIns="0" rIns="0" bIns="0" rtlCol="0" anchor="t"/>
          <a:lstStyle/>
          <a:p>
            <a:pPr algn="ctr" indent="0" marL="0">
              <a:buNone/>
            </a:pPr>
            <a:r>
              <a:rPr lang="en-US" sz="1400" dirty="0">
                <a:solidFill>
                  <a:schemeClr val="accent5"/>
                </a:solidFill>
              </a:rPr>
              <a:t>claves foráneas</a:t>
            </a:r>
            <a:endParaRPr lang="en-US" sz="1400" dirty="0"/>
          </a:p>
        </p:txBody>
      </p:sp>
      <p:sp>
        <p:nvSpPr>
          <p:cNvPr id="9" name="stat2"/>
          <p:cNvSpPr/>
          <p:nvPr/>
        </p:nvSpPr>
        <p:spPr>
          <a:xfrm>
            <a:off x="6217920" y="1325880"/>
            <a:ext cx="2606040" cy="1600200"/>
          </a:xfrm>
          <a:prstGeom prst="roundRect">
            <a:avLst>
              <a:gd name="adj" fmla="val 4571"/>
            </a:avLst>
          </a:prstGeom>
          <a:solidFill>
            <a:schemeClr val="bg2"/>
          </a:solidFill>
          <a:ln w="12700">
            <a:solidFill>
              <a:schemeClr val="bg2"/>
            </a:solidFill>
            <a:prstDash val="solid"/>
          </a:ln>
        </p:spPr>
      </p:sp>
      <p:sp>
        <p:nvSpPr>
          <p:cNvPr id="10" name="Text 8"/>
          <p:cNvSpPr txBox="1"/>
          <p:nvPr/>
        </p:nvSpPr>
        <p:spPr>
          <a:xfrm>
            <a:off x="6217920" y="1417320"/>
            <a:ext cx="2606040" cy="868680"/>
          </a:xfrm>
          <a:prstGeom prst="rect">
            <a:avLst/>
          </a:prstGeom>
          <a:noFill/>
          <a:ln/>
        </p:spPr>
        <p:txBody>
          <a:bodyPr wrap="square" lIns="0" tIns="0" rIns="0" bIns="0" rtlCol="0" anchor="t"/>
          <a:lstStyle/>
          <a:p>
            <a:pPr algn="ctr" indent="0" marL="0">
              <a:buNone/>
            </a:pPr>
            <a:r>
              <a:rPr lang="en-US" sz="4800" b="1" dirty="0">
                <a:solidFill>
                  <a:schemeClr val="accent1"/>
                </a:solidFill>
                <a:latin typeface="Cambria" pitchFamily="34" charset="0"/>
                <a:ea typeface="Cambria" pitchFamily="34" charset="-122"/>
                <a:cs typeface="Cambria" pitchFamily="34" charset="-120"/>
              </a:rPr>
              <a:t>6</a:t>
            </a:r>
            <a:endParaRPr lang="en-US" sz="4800" dirty="0"/>
          </a:p>
        </p:txBody>
      </p:sp>
      <p:sp>
        <p:nvSpPr>
          <p:cNvPr id="11" name="Text 9"/>
          <p:cNvSpPr txBox="1"/>
          <p:nvPr/>
        </p:nvSpPr>
        <p:spPr>
          <a:xfrm>
            <a:off x="6217920" y="2331720"/>
            <a:ext cx="2606040" cy="457200"/>
          </a:xfrm>
          <a:prstGeom prst="rect">
            <a:avLst/>
          </a:prstGeom>
          <a:noFill/>
          <a:ln/>
        </p:spPr>
        <p:txBody>
          <a:bodyPr wrap="square" lIns="0" tIns="0" rIns="0" bIns="0" rtlCol="0" anchor="t"/>
          <a:lstStyle/>
          <a:p>
            <a:pPr algn="ctr" indent="0" marL="0">
              <a:buNone/>
            </a:pPr>
            <a:r>
              <a:rPr lang="en-US" sz="1400" dirty="0">
                <a:solidFill>
                  <a:schemeClr val="accent5"/>
                </a:solidFill>
              </a:rPr>
              <a:t>índices únicos filtrados</a:t>
            </a:r>
            <a:endParaRPr lang="en-US" sz="1400" dirty="0"/>
          </a:p>
        </p:txBody>
      </p:sp>
      <p:sp>
        <p:nvSpPr>
          <p:cNvPr id="12" name="stat3"/>
          <p:cNvSpPr/>
          <p:nvPr/>
        </p:nvSpPr>
        <p:spPr>
          <a:xfrm>
            <a:off x="9052560" y="1325880"/>
            <a:ext cx="2606040" cy="1600200"/>
          </a:xfrm>
          <a:prstGeom prst="roundRect">
            <a:avLst>
              <a:gd name="adj" fmla="val 4571"/>
            </a:avLst>
          </a:prstGeom>
          <a:solidFill>
            <a:schemeClr val="bg2"/>
          </a:solidFill>
          <a:ln w="12700">
            <a:solidFill>
              <a:schemeClr val="bg2"/>
            </a:solidFill>
            <a:prstDash val="solid"/>
          </a:ln>
        </p:spPr>
      </p:sp>
      <p:sp>
        <p:nvSpPr>
          <p:cNvPr id="13" name="Text 11"/>
          <p:cNvSpPr txBox="1"/>
          <p:nvPr/>
        </p:nvSpPr>
        <p:spPr>
          <a:xfrm>
            <a:off x="9052560" y="1417320"/>
            <a:ext cx="2606040" cy="868680"/>
          </a:xfrm>
          <a:prstGeom prst="rect">
            <a:avLst/>
          </a:prstGeom>
          <a:noFill/>
          <a:ln/>
        </p:spPr>
        <p:txBody>
          <a:bodyPr wrap="square" lIns="0" tIns="0" rIns="0" bIns="0" rtlCol="0" anchor="t"/>
          <a:lstStyle/>
          <a:p>
            <a:pPr algn="ctr" indent="0" marL="0">
              <a:buNone/>
            </a:pPr>
            <a:r>
              <a:rPr lang="en-US" sz="4800" b="1" dirty="0">
                <a:solidFill>
                  <a:schemeClr val="accent1"/>
                </a:solidFill>
                <a:latin typeface="Cambria" pitchFamily="34" charset="0"/>
                <a:ea typeface="Cambria" pitchFamily="34" charset="-122"/>
                <a:cs typeface="Cambria" pitchFamily="34" charset="-120"/>
              </a:rPr>
              <a:t>12</a:t>
            </a:r>
            <a:endParaRPr lang="en-US" sz="4800" dirty="0"/>
          </a:p>
        </p:txBody>
      </p:sp>
      <p:sp>
        <p:nvSpPr>
          <p:cNvPr id="14" name="Text 12"/>
          <p:cNvSpPr txBox="1"/>
          <p:nvPr/>
        </p:nvSpPr>
        <p:spPr>
          <a:xfrm>
            <a:off x="9052560" y="2331720"/>
            <a:ext cx="2606040" cy="457200"/>
          </a:xfrm>
          <a:prstGeom prst="rect">
            <a:avLst/>
          </a:prstGeom>
          <a:noFill/>
          <a:ln/>
        </p:spPr>
        <p:txBody>
          <a:bodyPr wrap="square" lIns="0" tIns="0" rIns="0" bIns="0" rtlCol="0" anchor="t"/>
          <a:lstStyle/>
          <a:p>
            <a:pPr algn="ctr" indent="0" marL="0">
              <a:buNone/>
            </a:pPr>
            <a:r>
              <a:rPr lang="en-US" sz="1400" dirty="0">
                <a:solidFill>
                  <a:schemeClr val="accent5"/>
                </a:solidFill>
              </a:rPr>
              <a:t>triggers set-based</a:t>
            </a:r>
            <a:endParaRPr lang="en-US" sz="1400" dirty="0"/>
          </a:p>
        </p:txBody>
      </p:sp>
      <p:graphicFrame>
        <p:nvGraphicFramePr>
          <p:cNvPr id="15" name="grafico_reglas" descr=""/>
          <p:cNvGraphicFramePr/>
          <p:nvPr/>
        </p:nvGraphicFramePr>
        <p:xfrm>
          <a:off x="548640" y="3154680"/>
          <a:ext cx="6126480" cy="3063240"/>
        </p:xfrm>
        <a:graphic xmlns:a="http://schemas.openxmlformats.org/drawingml/2006/main">
          <a:graphicData uri="http://schemas.openxmlformats.org/drawingml/2006/chart">
            <c:chart xmlns:c="http://schemas.openxmlformats.org/drawingml/2006/chart" r:id="rId1"/>
          </a:graphicData>
        </a:graphic>
      </p:graphicFrame>
      <p:sp>
        <p:nvSpPr>
          <p:cNvPr id="16" name="codigo_fondo"/>
          <p:cNvSpPr/>
          <p:nvPr/>
        </p:nvSpPr>
        <p:spPr>
          <a:xfrm>
            <a:off x="6949440" y="3154680"/>
            <a:ext cx="4663440" cy="3063240"/>
          </a:xfrm>
          <a:prstGeom prst="roundRect">
            <a:avLst>
              <a:gd name="adj" fmla="val 2388"/>
            </a:avLst>
          </a:prstGeom>
          <a:solidFill>
            <a:schemeClr val="tx2"/>
          </a:solidFill>
          <a:ln w="12700">
            <a:solidFill>
              <a:schemeClr val="tx2"/>
            </a:solidFill>
            <a:prstDash val="solid"/>
          </a:ln>
        </p:spPr>
      </p:sp>
      <p:sp>
        <p:nvSpPr>
          <p:cNvPr id="17" name="Text 14"/>
          <p:cNvSpPr txBox="1"/>
          <p:nvPr/>
        </p:nvSpPr>
        <p:spPr>
          <a:xfrm>
            <a:off x="7178040" y="3291840"/>
            <a:ext cx="4297680" cy="365760"/>
          </a:xfrm>
          <a:prstGeom prst="rect">
            <a:avLst/>
          </a:prstGeom>
          <a:noFill/>
          <a:ln/>
        </p:spPr>
        <p:txBody>
          <a:bodyPr wrap="square" lIns="0" tIns="0" rIns="0" bIns="0" rtlCol="0" anchor="t"/>
          <a:lstStyle/>
          <a:p>
            <a:pPr indent="0" marL="0">
              <a:buNone/>
            </a:pPr>
            <a:r>
              <a:rPr lang="en-US" sz="1400" b="1" dirty="0">
                <a:solidFill>
                  <a:schemeClr val="bg1"/>
                </a:solidFill>
              </a:rPr>
              <a:t>Un asiento, un pasajero (índice único filtrado)</a:t>
            </a:r>
            <a:endParaRPr lang="en-US" sz="1400" dirty="0"/>
          </a:p>
        </p:txBody>
      </p:sp>
      <p:sp>
        <p:nvSpPr>
          <p:cNvPr id="18" name="Text 15"/>
          <p:cNvSpPr txBox="1"/>
          <p:nvPr/>
        </p:nvSpPr>
        <p:spPr>
          <a:xfrm>
            <a:off x="7178040" y="3749040"/>
            <a:ext cx="4343400" cy="2286000"/>
          </a:xfrm>
          <a:prstGeom prst="rect">
            <a:avLst/>
          </a:prstGeom>
          <a:noFill/>
          <a:ln/>
        </p:spPr>
        <p:txBody>
          <a:bodyPr wrap="square" lIns="0" tIns="0" rIns="0" bIns="0" rtlCol="0" anchor="t"/>
          <a:lstStyle/>
          <a:p>
            <a:pPr indent="0" marL="0">
              <a:buNone/>
            </a:pPr>
            <a:r>
              <a:rPr lang="en-US" sz="1300" dirty="0">
                <a:solidFill>
                  <a:schemeClr val="accent6"/>
                </a:solidFill>
                <a:latin typeface="Courier New" pitchFamily="34" charset="0"/>
                <a:ea typeface="Courier New" pitchFamily="34" charset="-122"/>
                <a:cs typeface="Courier New" pitchFamily="34" charset="-120"/>
              </a:rPr>
              <a:t>CREATE UNIQUE INDEX ux_tiquete_vuelo_asiento</a:t>
            </a:r>
            <a:endParaRPr lang="en-US" sz="1300" dirty="0"/>
          </a:p>
          <a:p>
            <a:pPr indent="0" marL="0">
              <a:buNone/>
            </a:pPr>
            <a:r>
              <a:rPr lang="en-US" sz="1300" dirty="0">
                <a:solidFill>
                  <a:schemeClr val="accent6"/>
                </a:solidFill>
                <a:latin typeface="Courier New" pitchFamily="34" charset="0"/>
                <a:ea typeface="Courier New" pitchFamily="34" charset="-122"/>
                <a:cs typeface="Courier New" pitchFamily="34" charset="-120"/>
              </a:rPr>
              <a:t>  ON ven.tiquete (id_vuelo, codigo_asiento)</a:t>
            </a:r>
            <a:endParaRPr lang="en-US" sz="1300" dirty="0"/>
          </a:p>
          <a:p>
            <a:pPr indent="0" marL="0">
              <a:buNone/>
            </a:pPr>
            <a:r>
              <a:rPr lang="en-US" sz="1300" dirty="0">
                <a:solidFill>
                  <a:schemeClr val="accent6"/>
                </a:solidFill>
                <a:latin typeface="Courier New" pitchFamily="34" charset="0"/>
                <a:ea typeface="Courier New" pitchFamily="34" charset="-122"/>
                <a:cs typeface="Courier New" pitchFamily="34" charset="-120"/>
              </a:rPr>
              <a:t>WHERE codigo_asiento IS NOT NULL</a:t>
            </a:r>
            <a:endParaRPr lang="en-US" sz="1300" dirty="0"/>
          </a:p>
          <a:p>
            <a:pPr indent="0" marL="0">
              <a:buNone/>
            </a:pPr>
            <a:r>
              <a:rPr lang="en-US" sz="1300" dirty="0">
                <a:solidFill>
                  <a:schemeClr val="accent6"/>
                </a:solidFill>
                <a:latin typeface="Courier New" pitchFamily="34" charset="0"/>
                <a:ea typeface="Courier New" pitchFamily="34" charset="-122"/>
                <a:cs typeface="Courier New" pitchFamily="34" charset="-120"/>
              </a:rPr>
              <a:t>  AND codigo_estado IN ('RESERVADO',</a:t>
            </a:r>
            <a:endParaRPr lang="en-US" sz="1300" dirty="0"/>
          </a:p>
          <a:p>
            <a:pPr indent="0" marL="0">
              <a:buNone/>
            </a:pPr>
            <a:r>
              <a:rPr lang="en-US" sz="1300" dirty="0">
                <a:solidFill>
                  <a:schemeClr val="accent6"/>
                </a:solidFill>
                <a:latin typeface="Courier New" pitchFamily="34" charset="0"/>
                <a:ea typeface="Courier New" pitchFamily="34" charset="-122"/>
                <a:cs typeface="Courier New" pitchFamily="34" charset="-120"/>
              </a:rPr>
              <a:t>      'EMITIDO','USADO','NO_PRESENTADO');</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Sesiones simultáneas reales: sin sobreventa ni cobros dobles</a:t>
            </a:r>
            <a:endParaRPr lang="en-US" sz="3200" dirty="0"/>
          </a:p>
        </p:txBody>
      </p:sp>
      <p:sp>
        <p:nvSpPr>
          <p:cNvPr id="3" name="pc0"/>
          <p:cNvSpPr/>
          <p:nvPr/>
        </p:nvSpPr>
        <p:spPr>
          <a:xfrm>
            <a:off x="548640" y="1325880"/>
            <a:ext cx="2606040" cy="4343400"/>
          </a:xfrm>
          <a:prstGeom prst="roundRect">
            <a:avLst>
              <a:gd name="adj" fmla="val 2807"/>
            </a:avLst>
          </a:prstGeom>
          <a:solidFill>
            <a:schemeClr val="bg2"/>
          </a:solidFill>
          <a:ln w="12700">
            <a:solidFill>
              <a:schemeClr val="bg2"/>
            </a:solidFill>
            <a:prstDash val="solid"/>
          </a:ln>
        </p:spPr>
      </p:sp>
      <p:sp>
        <p:nvSpPr>
          <p:cNvPr id="4" name="Text 2"/>
          <p:cNvSpPr txBox="1"/>
          <p:nvPr/>
        </p:nvSpPr>
        <p:spPr>
          <a:xfrm>
            <a:off x="731520" y="1463040"/>
            <a:ext cx="2240280" cy="82296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12 de 40</a:t>
            </a:r>
            <a:endParaRPr lang="en-US" sz="4000" dirty="0"/>
          </a:p>
        </p:txBody>
      </p:sp>
      <p:sp>
        <p:nvSpPr>
          <p:cNvPr id="5" name="Text 3"/>
          <p:cNvSpPr txBox="1"/>
          <p:nvPr/>
        </p:nvSpPr>
        <p:spPr>
          <a:xfrm>
            <a:off x="731520" y="2331720"/>
            <a:ext cx="2240280" cy="1188720"/>
          </a:xfrm>
          <a:prstGeom prst="rect">
            <a:avLst/>
          </a:prstGeom>
          <a:noFill/>
          <a:ln/>
        </p:spPr>
        <p:txBody>
          <a:bodyPr wrap="square" lIns="0" tIns="0" rIns="0" bIns="0" rtlCol="0" anchor="t"/>
          <a:lstStyle/>
          <a:p>
            <a:pPr indent="0" marL="0">
              <a:buNone/>
            </a:pPr>
            <a:r>
              <a:rPr lang="en-US" sz="1500" b="1" dirty="0">
                <a:solidFill>
                  <a:schemeClr val="tx2"/>
                </a:solidFill>
              </a:rPr>
              <a:t>compras simultáneas en una cabina VIP de 12 asientos</a:t>
            </a:r>
            <a:endParaRPr lang="en-US" sz="1500" dirty="0"/>
          </a:p>
        </p:txBody>
      </p:sp>
      <p:sp>
        <p:nvSpPr>
          <p:cNvPr id="6" name="Text 4"/>
          <p:cNvSpPr txBox="1"/>
          <p:nvPr/>
        </p:nvSpPr>
        <p:spPr>
          <a:xfrm>
            <a:off x="731520" y="3611880"/>
            <a:ext cx="2240280" cy="1463040"/>
          </a:xfrm>
          <a:prstGeom prst="rect">
            <a:avLst/>
          </a:prstGeom>
          <a:noFill/>
          <a:ln/>
        </p:spPr>
        <p:txBody>
          <a:bodyPr wrap="square" lIns="0" tIns="0" rIns="0" bIns="0" rtlCol="0" anchor="t"/>
          <a:lstStyle/>
          <a:p>
            <a:pPr indent="0" marL="0">
              <a:buNone/>
            </a:pPr>
            <a:r>
              <a:rPr lang="en-US" sz="1400" dirty="0">
                <a:solidFill>
                  <a:schemeClr val="tx1"/>
                </a:solidFill>
              </a:rPr>
              <a:t>Semáforo: la fila del cupo se bloquea (UPDLOCK) y CHECK ≤ capacidad</a:t>
            </a:r>
            <a:endParaRPr lang="en-US" sz="1400" dirty="0"/>
          </a:p>
        </p:txBody>
      </p:sp>
      <p:sp>
        <p:nvSpPr>
          <p:cNvPr id="7" name="Text 5"/>
          <p:cNvSpPr txBox="1"/>
          <p:nvPr/>
        </p:nvSpPr>
        <p:spPr>
          <a:xfrm>
            <a:off x="731520" y="5212080"/>
            <a:ext cx="2240280" cy="320040"/>
          </a:xfrm>
          <a:prstGeom prst="rect">
            <a:avLst/>
          </a:prstGeom>
          <a:noFill/>
          <a:ln/>
        </p:spPr>
        <p:txBody>
          <a:bodyPr wrap="square" lIns="0" tIns="0" rIns="0" bIns="0" rtlCol="0" anchor="t"/>
          <a:lstStyle/>
          <a:p>
            <a:pPr indent="0" marL="0">
              <a:buNone/>
            </a:pPr>
            <a:r>
              <a:rPr lang="en-US" sz="1200" dirty="0">
                <a:solidFill>
                  <a:schemeClr val="accent5"/>
                </a:solidFill>
              </a:rPr>
              <a:t>PC-01 · superada</a:t>
            </a:r>
            <a:endParaRPr lang="en-US" sz="1200" dirty="0"/>
          </a:p>
        </p:txBody>
      </p:sp>
      <p:sp>
        <p:nvSpPr>
          <p:cNvPr id="8" name="pc1"/>
          <p:cNvSpPr/>
          <p:nvPr/>
        </p:nvSpPr>
        <p:spPr>
          <a:xfrm>
            <a:off x="3383280" y="1325880"/>
            <a:ext cx="2606040" cy="4343400"/>
          </a:xfrm>
          <a:prstGeom prst="roundRect">
            <a:avLst>
              <a:gd name="adj" fmla="val 2807"/>
            </a:avLst>
          </a:prstGeom>
          <a:solidFill>
            <a:schemeClr val="bg2"/>
          </a:solidFill>
          <a:ln w="12700">
            <a:solidFill>
              <a:schemeClr val="bg2"/>
            </a:solidFill>
            <a:prstDash val="solid"/>
          </a:ln>
        </p:spPr>
      </p:sp>
      <p:sp>
        <p:nvSpPr>
          <p:cNvPr id="9" name="Text 7"/>
          <p:cNvSpPr txBox="1"/>
          <p:nvPr/>
        </p:nvSpPr>
        <p:spPr>
          <a:xfrm>
            <a:off x="3566160" y="1463040"/>
            <a:ext cx="2240280" cy="82296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1 de 20</a:t>
            </a:r>
            <a:endParaRPr lang="en-US" sz="4000" dirty="0"/>
          </a:p>
        </p:txBody>
      </p:sp>
      <p:sp>
        <p:nvSpPr>
          <p:cNvPr id="10" name="Text 8"/>
          <p:cNvSpPr txBox="1"/>
          <p:nvPr/>
        </p:nvSpPr>
        <p:spPr>
          <a:xfrm>
            <a:off x="3566160" y="2331720"/>
            <a:ext cx="2240280" cy="1188720"/>
          </a:xfrm>
          <a:prstGeom prst="rect">
            <a:avLst/>
          </a:prstGeom>
          <a:noFill/>
          <a:ln/>
        </p:spPr>
        <p:txBody>
          <a:bodyPr wrap="square" lIns="0" tIns="0" rIns="0" bIns="0" rtlCol="0" anchor="t"/>
          <a:lstStyle/>
          <a:p>
            <a:pPr indent="0" marL="0">
              <a:buNone/>
            </a:pPr>
            <a:r>
              <a:rPr lang="en-US" sz="1500" b="1" dirty="0">
                <a:solidFill>
                  <a:schemeClr val="tx2"/>
                </a:solidFill>
              </a:rPr>
              <a:t>sesiones piden el asiento 12A del mismo vuelo</a:t>
            </a:r>
            <a:endParaRPr lang="en-US" sz="1500" dirty="0"/>
          </a:p>
        </p:txBody>
      </p:sp>
      <p:sp>
        <p:nvSpPr>
          <p:cNvPr id="11" name="Text 9"/>
          <p:cNvSpPr txBox="1"/>
          <p:nvPr/>
        </p:nvSpPr>
        <p:spPr>
          <a:xfrm>
            <a:off x="3566160" y="3611880"/>
            <a:ext cx="2240280" cy="1463040"/>
          </a:xfrm>
          <a:prstGeom prst="rect">
            <a:avLst/>
          </a:prstGeom>
          <a:noFill/>
          <a:ln/>
        </p:spPr>
        <p:txBody>
          <a:bodyPr wrap="square" lIns="0" tIns="0" rIns="0" bIns="0" rtlCol="0" anchor="t"/>
          <a:lstStyle/>
          <a:p>
            <a:pPr indent="0" marL="0">
              <a:buNone/>
            </a:pPr>
            <a:r>
              <a:rPr lang="en-US" sz="1400" dirty="0">
                <a:solidFill>
                  <a:schemeClr val="tx1"/>
                </a:solidFill>
              </a:rPr>
              <a:t>Índice único filtrado; el error se traduce a «asiento ocupado»</a:t>
            </a:r>
            <a:endParaRPr lang="en-US" sz="1400" dirty="0"/>
          </a:p>
        </p:txBody>
      </p:sp>
      <p:sp>
        <p:nvSpPr>
          <p:cNvPr id="12" name="Text 10"/>
          <p:cNvSpPr txBox="1"/>
          <p:nvPr/>
        </p:nvSpPr>
        <p:spPr>
          <a:xfrm>
            <a:off x="3566160" y="5212080"/>
            <a:ext cx="2240280" cy="320040"/>
          </a:xfrm>
          <a:prstGeom prst="rect">
            <a:avLst/>
          </a:prstGeom>
          <a:noFill/>
          <a:ln/>
        </p:spPr>
        <p:txBody>
          <a:bodyPr wrap="square" lIns="0" tIns="0" rIns="0" bIns="0" rtlCol="0" anchor="t"/>
          <a:lstStyle/>
          <a:p>
            <a:pPr indent="0" marL="0">
              <a:buNone/>
            </a:pPr>
            <a:r>
              <a:rPr lang="en-US" sz="1200" dirty="0">
                <a:solidFill>
                  <a:schemeClr val="accent5"/>
                </a:solidFill>
              </a:rPr>
              <a:t>PC-02 · superada</a:t>
            </a:r>
            <a:endParaRPr lang="en-US" sz="1200" dirty="0"/>
          </a:p>
        </p:txBody>
      </p:sp>
      <p:sp>
        <p:nvSpPr>
          <p:cNvPr id="13" name="pc2"/>
          <p:cNvSpPr/>
          <p:nvPr/>
        </p:nvSpPr>
        <p:spPr>
          <a:xfrm>
            <a:off x="6217920" y="1325880"/>
            <a:ext cx="2606040" cy="4343400"/>
          </a:xfrm>
          <a:prstGeom prst="roundRect">
            <a:avLst>
              <a:gd name="adj" fmla="val 2807"/>
            </a:avLst>
          </a:prstGeom>
          <a:solidFill>
            <a:schemeClr val="bg2"/>
          </a:solidFill>
          <a:ln w="12700">
            <a:solidFill>
              <a:schemeClr val="bg2"/>
            </a:solidFill>
            <a:prstDash val="solid"/>
          </a:ln>
        </p:spPr>
      </p:sp>
      <p:sp>
        <p:nvSpPr>
          <p:cNvPr id="14" name="Text 12"/>
          <p:cNvSpPr txBox="1"/>
          <p:nvPr/>
        </p:nvSpPr>
        <p:spPr>
          <a:xfrm>
            <a:off x="6400800" y="1463040"/>
            <a:ext cx="2240280" cy="82296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1 de 10</a:t>
            </a:r>
            <a:endParaRPr lang="en-US" sz="4000" dirty="0"/>
          </a:p>
        </p:txBody>
      </p:sp>
      <p:sp>
        <p:nvSpPr>
          <p:cNvPr id="15" name="Text 13"/>
          <p:cNvSpPr txBox="1"/>
          <p:nvPr/>
        </p:nvSpPr>
        <p:spPr>
          <a:xfrm>
            <a:off x="6400800" y="2331720"/>
            <a:ext cx="2240280" cy="1188720"/>
          </a:xfrm>
          <a:prstGeom prst="rect">
            <a:avLst/>
          </a:prstGeom>
          <a:noFill/>
          <a:ln/>
        </p:spPr>
        <p:txBody>
          <a:bodyPr wrap="square" lIns="0" tIns="0" rIns="0" bIns="0" rtlCol="0" anchor="t"/>
          <a:lstStyle/>
          <a:p>
            <a:pPr indent="0" marL="0">
              <a:buNone/>
            </a:pPr>
            <a:r>
              <a:rPr lang="en-US" sz="1500" b="1" dirty="0">
                <a:solidFill>
                  <a:schemeClr val="tx2"/>
                </a:solidFill>
              </a:rPr>
              <a:t>pagos simultáneos del saldo total del mismo tiquete</a:t>
            </a:r>
            <a:endParaRPr lang="en-US" sz="1500" dirty="0"/>
          </a:p>
        </p:txBody>
      </p:sp>
      <p:sp>
        <p:nvSpPr>
          <p:cNvPr id="16" name="Text 14"/>
          <p:cNvSpPr txBox="1"/>
          <p:nvPr/>
        </p:nvSpPr>
        <p:spPr>
          <a:xfrm>
            <a:off x="6400800" y="3611880"/>
            <a:ext cx="2240280" cy="1463040"/>
          </a:xfrm>
          <a:prstGeom prst="rect">
            <a:avLst/>
          </a:prstGeom>
          <a:noFill/>
          <a:ln/>
        </p:spPr>
        <p:txBody>
          <a:bodyPr wrap="square" lIns="0" tIns="0" rIns="0" bIns="0" rtlCol="0" anchor="t"/>
          <a:lstStyle/>
          <a:p>
            <a:pPr indent="0" marL="0">
              <a:buNone/>
            </a:pPr>
            <a:r>
              <a:rPr lang="en-US" sz="1400" dirty="0">
                <a:solidFill>
                  <a:schemeClr val="tx1"/>
                </a:solidFill>
              </a:rPr>
              <a:t>El pago bloquea la fila del tiquete antes de sumar lo cobrado</a:t>
            </a:r>
            <a:endParaRPr lang="en-US" sz="1400" dirty="0"/>
          </a:p>
        </p:txBody>
      </p:sp>
      <p:sp>
        <p:nvSpPr>
          <p:cNvPr id="17" name="Text 15"/>
          <p:cNvSpPr txBox="1"/>
          <p:nvPr/>
        </p:nvSpPr>
        <p:spPr>
          <a:xfrm>
            <a:off x="6400800" y="5212080"/>
            <a:ext cx="2240280" cy="320040"/>
          </a:xfrm>
          <a:prstGeom prst="rect">
            <a:avLst/>
          </a:prstGeom>
          <a:noFill/>
          <a:ln/>
        </p:spPr>
        <p:txBody>
          <a:bodyPr wrap="square" lIns="0" tIns="0" rIns="0" bIns="0" rtlCol="0" anchor="t"/>
          <a:lstStyle/>
          <a:p>
            <a:pPr indent="0" marL="0">
              <a:buNone/>
            </a:pPr>
            <a:r>
              <a:rPr lang="en-US" sz="1200" dirty="0">
                <a:solidFill>
                  <a:schemeClr val="accent5"/>
                </a:solidFill>
              </a:rPr>
              <a:t>PC-03 · superada</a:t>
            </a:r>
            <a:endParaRPr lang="en-US" sz="1200" dirty="0"/>
          </a:p>
        </p:txBody>
      </p:sp>
      <p:sp>
        <p:nvSpPr>
          <p:cNvPr id="18" name="pc3"/>
          <p:cNvSpPr/>
          <p:nvPr/>
        </p:nvSpPr>
        <p:spPr>
          <a:xfrm>
            <a:off x="9052560" y="1325880"/>
            <a:ext cx="2606040" cy="4343400"/>
          </a:xfrm>
          <a:prstGeom prst="roundRect">
            <a:avLst>
              <a:gd name="adj" fmla="val 2807"/>
            </a:avLst>
          </a:prstGeom>
          <a:solidFill>
            <a:schemeClr val="bg2"/>
          </a:solidFill>
          <a:ln w="12700">
            <a:solidFill>
              <a:schemeClr val="bg2"/>
            </a:solidFill>
            <a:prstDash val="solid"/>
          </a:ln>
        </p:spPr>
      </p:sp>
      <p:sp>
        <p:nvSpPr>
          <p:cNvPr id="19" name="Text 17"/>
          <p:cNvSpPr txBox="1"/>
          <p:nvPr/>
        </p:nvSpPr>
        <p:spPr>
          <a:xfrm>
            <a:off x="9235440" y="1463040"/>
            <a:ext cx="2240280" cy="82296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30 de 30</a:t>
            </a:r>
            <a:endParaRPr lang="en-US" sz="4000" dirty="0"/>
          </a:p>
        </p:txBody>
      </p:sp>
      <p:sp>
        <p:nvSpPr>
          <p:cNvPr id="20" name="Text 18"/>
          <p:cNvSpPr txBox="1"/>
          <p:nvPr/>
        </p:nvSpPr>
        <p:spPr>
          <a:xfrm>
            <a:off x="9235440" y="2331720"/>
            <a:ext cx="2240280" cy="1188720"/>
          </a:xfrm>
          <a:prstGeom prst="rect">
            <a:avLst/>
          </a:prstGeom>
          <a:noFill/>
          <a:ln/>
        </p:spPr>
        <p:txBody>
          <a:bodyPr wrap="square" lIns="0" tIns="0" rIns="0" bIns="0" rtlCol="0" anchor="t"/>
          <a:lstStyle/>
          <a:p>
            <a:pPr indent="0" marL="0">
              <a:buNone/>
            </a:pPr>
            <a:r>
              <a:rPr lang="en-US" sz="1500" b="1" dirty="0">
                <a:solidFill>
                  <a:schemeClr val="tx2"/>
                </a:solidFill>
              </a:rPr>
              <a:t>asignaciones automáticas de asiento simultáneas</a:t>
            </a:r>
            <a:endParaRPr lang="en-US" sz="1500" dirty="0"/>
          </a:p>
        </p:txBody>
      </p:sp>
      <p:sp>
        <p:nvSpPr>
          <p:cNvPr id="21" name="Text 19"/>
          <p:cNvSpPr txBox="1"/>
          <p:nvPr/>
        </p:nvSpPr>
        <p:spPr>
          <a:xfrm>
            <a:off x="9235440" y="3611880"/>
            <a:ext cx="2240280" cy="1463040"/>
          </a:xfrm>
          <a:prstGeom prst="rect">
            <a:avLst/>
          </a:prstGeom>
          <a:noFill/>
          <a:ln/>
        </p:spPr>
        <p:txBody>
          <a:bodyPr wrap="square" lIns="0" tIns="0" rIns="0" bIns="0" rtlCol="0" anchor="t"/>
          <a:lstStyle/>
          <a:p>
            <a:pPr indent="0" marL="0">
              <a:buNone/>
            </a:pPr>
            <a:r>
              <a:rPr lang="en-US" sz="1400" dirty="0">
                <a:solidFill>
                  <a:schemeClr val="tx1"/>
                </a:solidFill>
              </a:rPr>
              <a:t>Antes 6 de 30 (efecto manada); corregido con el semáforo</a:t>
            </a:r>
            <a:endParaRPr lang="en-US" sz="1400" dirty="0"/>
          </a:p>
        </p:txBody>
      </p:sp>
      <p:sp>
        <p:nvSpPr>
          <p:cNvPr id="22" name="Text 20"/>
          <p:cNvSpPr txBox="1"/>
          <p:nvPr/>
        </p:nvSpPr>
        <p:spPr>
          <a:xfrm>
            <a:off x="9235440" y="5212080"/>
            <a:ext cx="2240280" cy="320040"/>
          </a:xfrm>
          <a:prstGeom prst="rect">
            <a:avLst/>
          </a:prstGeom>
          <a:noFill/>
          <a:ln/>
        </p:spPr>
        <p:txBody>
          <a:bodyPr wrap="square" lIns="0" tIns="0" rIns="0" bIns="0" rtlCol="0" anchor="t"/>
          <a:lstStyle/>
          <a:p>
            <a:pPr indent="0" marL="0">
              <a:buNone/>
            </a:pPr>
            <a:r>
              <a:rPr lang="en-US" sz="1200" dirty="0">
                <a:solidFill>
                  <a:schemeClr val="accent5"/>
                </a:solidFill>
              </a:rPr>
              <a:t>PC-04 · superada</a:t>
            </a:r>
            <a:endParaRPr lang="en-US" sz="1200" dirty="0"/>
          </a:p>
        </p:txBody>
      </p:sp>
      <p:sp>
        <p:nvSpPr>
          <p:cNvPr id="23" name="Text 21"/>
          <p:cNvSpPr txBox="1"/>
          <p:nvPr/>
        </p:nvSpPr>
        <p:spPr>
          <a:xfrm>
            <a:off x="548640" y="5806440"/>
            <a:ext cx="11064240" cy="502920"/>
          </a:xfrm>
          <a:prstGeom prst="rect">
            <a:avLst/>
          </a:prstGeom>
          <a:noFill/>
          <a:ln/>
        </p:spPr>
        <p:txBody>
          <a:bodyPr wrap="square" lIns="0" tIns="0" rIns="0" bIns="0" rtlCol="0" anchor="t"/>
          <a:lstStyle/>
          <a:p>
            <a:pPr indent="0" marL="0">
              <a:buNone/>
            </a:pPr>
            <a:r>
              <a:rPr lang="en-US" sz="1400" dirty="0">
                <a:solidFill>
                  <a:schemeClr val="accent5"/>
                </a:solidFill>
              </a:rPr>
              <a:t>Aislamiento: READ COMMITTED con versiones de fila (predeterminado en Azure). Las validaciones que deciden una escritura leen con bloqueo para evitar la escritura sesgada.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Todo se reconstruye con un comando</a:t>
            </a:r>
            <a:endParaRPr lang="en-US" sz="3200" dirty="0"/>
          </a:p>
        </p:txBody>
      </p:sp>
      <p:sp>
        <p:nvSpPr>
          <p:cNvPr id="3" name="paso0_circulo"/>
          <p:cNvSpPr/>
          <p:nvPr/>
        </p:nvSpPr>
        <p:spPr>
          <a:xfrm>
            <a:off x="1188720" y="1417320"/>
            <a:ext cx="868680" cy="868680"/>
          </a:xfrm>
          <a:prstGeom prst="ellipse">
            <a:avLst/>
          </a:prstGeom>
          <a:solidFill>
            <a:srgbClr val="2A78D6"/>
          </a:solidFill>
          <a:ln w="12700">
            <a:solidFill>
              <a:srgbClr val="2A78D6"/>
            </a:solidFill>
            <a:prstDash val="solid"/>
          </a:ln>
        </p:spPr>
      </p:sp>
      <p:pic>
        <p:nvPicPr>
          <p:cNvPr id="4" name="paso0_icono" descr="preencoded.png">    </p:cNvPr>
          <p:cNvPicPr>
            <a:picLocks noChangeAspect="1"/>
          </p:cNvPicPr>
          <p:nvPr/>
        </p:nvPicPr>
        <p:blipFill>
          <a:blip r:embed="rId1"/>
          <a:stretch>
            <a:fillRect/>
          </a:stretch>
        </p:blipFill>
        <p:spPr>
          <a:xfrm>
            <a:off x="1397203" y="1625803"/>
            <a:ext cx="451714" cy="451714"/>
          </a:xfrm>
          <a:prstGeom prst="rect">
            <a:avLst/>
          </a:prstGeom>
        </p:spPr>
      </p:pic>
      <p:sp>
        <p:nvSpPr>
          <p:cNvPr id="5" name="flecha0"/>
          <p:cNvSpPr/>
          <p:nvPr/>
        </p:nvSpPr>
        <p:spPr>
          <a:xfrm>
            <a:off x="2240280" y="1673352"/>
            <a:ext cx="411480" cy="365760"/>
          </a:xfrm>
          <a:prstGeom prst="rightArrow">
            <a:avLst/>
          </a:prstGeom>
          <a:solidFill>
            <a:schemeClr val="accent6"/>
          </a:solidFill>
          <a:ln w="12700">
            <a:solidFill>
              <a:schemeClr val="accent6"/>
            </a:solidFill>
            <a:prstDash val="solid"/>
          </a:ln>
        </p:spPr>
      </p:sp>
      <p:sp>
        <p:nvSpPr>
          <p:cNvPr id="6" name="Text 3"/>
          <p:cNvSpPr txBox="1"/>
          <p:nvPr/>
        </p:nvSpPr>
        <p:spPr>
          <a:xfrm>
            <a:off x="548640" y="2468880"/>
            <a:ext cx="2148840" cy="457200"/>
          </a:xfrm>
          <a:prstGeom prst="rect">
            <a:avLst/>
          </a:prstGeom>
          <a:noFill/>
          <a:ln/>
        </p:spPr>
        <p:txBody>
          <a:bodyPr wrap="square" lIns="0" tIns="0" rIns="0" bIns="0" rtlCol="0" anchor="t"/>
          <a:lstStyle/>
          <a:p>
            <a:pPr algn="ctr" indent="0" marL="0">
              <a:buNone/>
            </a:pPr>
            <a:r>
              <a:rPr lang="en-US" sz="1600" b="1" dirty="0">
                <a:solidFill>
                  <a:schemeClr val="tx2"/>
                </a:solidFill>
              </a:rPr>
              <a:t>Scripts T-SQL</a:t>
            </a:r>
            <a:endParaRPr lang="en-US" sz="1600" dirty="0"/>
          </a:p>
        </p:txBody>
      </p:sp>
      <p:sp>
        <p:nvSpPr>
          <p:cNvPr id="7" name="Text 4"/>
          <p:cNvSpPr txBox="1"/>
          <p:nvPr/>
        </p:nvSpPr>
        <p:spPr>
          <a:xfrm>
            <a:off x="594360" y="2926080"/>
            <a:ext cx="2057400" cy="1005840"/>
          </a:xfrm>
          <a:prstGeom prst="rect">
            <a:avLst/>
          </a:prstGeom>
          <a:noFill/>
          <a:ln/>
        </p:spPr>
        <p:txBody>
          <a:bodyPr wrap="square" lIns="0" tIns="0" rIns="0" bIns="0" rtlCol="0" anchor="t"/>
          <a:lstStyle/>
          <a:p>
            <a:pPr algn="ctr" indent="0" marL="0">
              <a:buNone/>
            </a:pPr>
            <a:r>
              <a:rPr lang="en-US" sz="1400" dirty="0">
                <a:solidFill>
                  <a:schemeClr val="tx1"/>
                </a:solidFill>
              </a:rPr>
              <a:t>02-13 en orden, idempotentes; el destructivo va aparte</a:t>
            </a:r>
            <a:endParaRPr lang="en-US" sz="1400" dirty="0"/>
          </a:p>
        </p:txBody>
      </p:sp>
      <p:sp>
        <p:nvSpPr>
          <p:cNvPr id="8" name="paso1_circulo"/>
          <p:cNvSpPr/>
          <p:nvPr/>
        </p:nvSpPr>
        <p:spPr>
          <a:xfrm>
            <a:off x="3474720" y="1417320"/>
            <a:ext cx="868680" cy="868680"/>
          </a:xfrm>
          <a:prstGeom prst="ellipse">
            <a:avLst/>
          </a:prstGeom>
          <a:solidFill>
            <a:srgbClr val="2A78D6"/>
          </a:solidFill>
          <a:ln w="12700">
            <a:solidFill>
              <a:srgbClr val="2A78D6"/>
            </a:solidFill>
            <a:prstDash val="solid"/>
          </a:ln>
        </p:spPr>
      </p:sp>
      <p:pic>
        <p:nvPicPr>
          <p:cNvPr id="9" name="paso1_icono" descr="preencoded.png">    </p:cNvPr>
          <p:cNvPicPr>
            <a:picLocks noChangeAspect="1"/>
          </p:cNvPicPr>
          <p:nvPr/>
        </p:nvPicPr>
        <p:blipFill>
          <a:blip r:embed="rId2"/>
          <a:stretch>
            <a:fillRect/>
          </a:stretch>
        </p:blipFill>
        <p:spPr>
          <a:xfrm>
            <a:off x="3683203" y="1625803"/>
            <a:ext cx="451714" cy="451714"/>
          </a:xfrm>
          <a:prstGeom prst="rect">
            <a:avLst/>
          </a:prstGeom>
        </p:spPr>
      </p:pic>
      <p:sp>
        <p:nvSpPr>
          <p:cNvPr id="10" name="flecha1"/>
          <p:cNvSpPr/>
          <p:nvPr/>
        </p:nvSpPr>
        <p:spPr>
          <a:xfrm>
            <a:off x="4526280" y="1673352"/>
            <a:ext cx="411480" cy="365760"/>
          </a:xfrm>
          <a:prstGeom prst="rightArrow">
            <a:avLst/>
          </a:prstGeom>
          <a:solidFill>
            <a:schemeClr val="accent6"/>
          </a:solidFill>
          <a:ln w="12700">
            <a:solidFill>
              <a:schemeClr val="accent6"/>
            </a:solidFill>
            <a:prstDash val="solid"/>
          </a:ln>
        </p:spPr>
      </p:sp>
      <p:sp>
        <p:nvSpPr>
          <p:cNvPr id="11" name="Text 7"/>
          <p:cNvSpPr txBox="1"/>
          <p:nvPr/>
        </p:nvSpPr>
        <p:spPr>
          <a:xfrm>
            <a:off x="2834640" y="2468880"/>
            <a:ext cx="2148840" cy="457200"/>
          </a:xfrm>
          <a:prstGeom prst="rect">
            <a:avLst/>
          </a:prstGeom>
          <a:noFill/>
          <a:ln/>
        </p:spPr>
        <p:txBody>
          <a:bodyPr wrap="square" lIns="0" tIns="0" rIns="0" bIns="0" rtlCol="0" anchor="t"/>
          <a:lstStyle/>
          <a:p>
            <a:pPr algn="ctr" indent="0" marL="0">
              <a:buNone/>
            </a:pPr>
            <a:r>
              <a:rPr lang="en-US" sz="1600" b="1" dirty="0">
                <a:solidFill>
                  <a:schemeClr val="tx2"/>
                </a:solidFill>
              </a:rPr>
              <a:t>Datos sintéticos</a:t>
            </a:r>
            <a:endParaRPr lang="en-US" sz="1600" dirty="0"/>
          </a:p>
        </p:txBody>
      </p:sp>
      <p:sp>
        <p:nvSpPr>
          <p:cNvPr id="12" name="Text 8"/>
          <p:cNvSpPr txBox="1"/>
          <p:nvPr/>
        </p:nvSpPr>
        <p:spPr>
          <a:xfrm>
            <a:off x="2880360" y="2926080"/>
            <a:ext cx="2057400" cy="1005840"/>
          </a:xfrm>
          <a:prstGeom prst="rect">
            <a:avLst/>
          </a:prstGeom>
          <a:noFill/>
          <a:ln/>
        </p:spPr>
        <p:txBody>
          <a:bodyPr wrap="square" lIns="0" tIns="0" rIns="0" bIns="0" rtlCol="0" anchor="t"/>
          <a:lstStyle/>
          <a:p>
            <a:pPr algn="ctr" indent="0" marL="0">
              <a:buNone/>
            </a:pPr>
            <a:r>
              <a:rPr lang="en-US" sz="1400" dirty="0">
                <a:solidFill>
                  <a:schemeClr val="tx1"/>
                </a:solidFill>
              </a:rPr>
              <a:t>semilla 20261106; CSV con huella SHA-256</a:t>
            </a:r>
            <a:endParaRPr lang="en-US" sz="1400" dirty="0"/>
          </a:p>
        </p:txBody>
      </p:sp>
      <p:sp>
        <p:nvSpPr>
          <p:cNvPr id="13" name="paso2_circulo"/>
          <p:cNvSpPr/>
          <p:nvPr/>
        </p:nvSpPr>
        <p:spPr>
          <a:xfrm>
            <a:off x="5760720" y="1417320"/>
            <a:ext cx="868680" cy="868680"/>
          </a:xfrm>
          <a:prstGeom prst="ellipse">
            <a:avLst/>
          </a:prstGeom>
          <a:solidFill>
            <a:srgbClr val="2A78D6"/>
          </a:solidFill>
          <a:ln w="12700">
            <a:solidFill>
              <a:srgbClr val="2A78D6"/>
            </a:solidFill>
            <a:prstDash val="solid"/>
          </a:ln>
        </p:spPr>
      </p:sp>
      <p:pic>
        <p:nvPicPr>
          <p:cNvPr id="14" name="paso2_icono" descr="preencoded.png">    </p:cNvPr>
          <p:cNvPicPr>
            <a:picLocks noChangeAspect="1"/>
          </p:cNvPicPr>
          <p:nvPr/>
        </p:nvPicPr>
        <p:blipFill>
          <a:blip r:embed="rId3"/>
          <a:stretch>
            <a:fillRect/>
          </a:stretch>
        </p:blipFill>
        <p:spPr>
          <a:xfrm>
            <a:off x="5969203" y="1625803"/>
            <a:ext cx="451714" cy="451714"/>
          </a:xfrm>
          <a:prstGeom prst="rect">
            <a:avLst/>
          </a:prstGeom>
        </p:spPr>
      </p:pic>
      <p:sp>
        <p:nvSpPr>
          <p:cNvPr id="15" name="flecha2"/>
          <p:cNvSpPr/>
          <p:nvPr/>
        </p:nvSpPr>
        <p:spPr>
          <a:xfrm>
            <a:off x="6812280" y="1673352"/>
            <a:ext cx="411480" cy="365760"/>
          </a:xfrm>
          <a:prstGeom prst="rightArrow">
            <a:avLst/>
          </a:prstGeom>
          <a:solidFill>
            <a:schemeClr val="accent6"/>
          </a:solidFill>
          <a:ln w="12700">
            <a:solidFill>
              <a:schemeClr val="accent6"/>
            </a:solidFill>
            <a:prstDash val="solid"/>
          </a:ln>
        </p:spPr>
      </p:sp>
      <p:sp>
        <p:nvSpPr>
          <p:cNvPr id="16" name="Text 11"/>
          <p:cNvSpPr txBox="1"/>
          <p:nvPr/>
        </p:nvSpPr>
        <p:spPr>
          <a:xfrm>
            <a:off x="5120640" y="2468880"/>
            <a:ext cx="2148840" cy="457200"/>
          </a:xfrm>
          <a:prstGeom prst="rect">
            <a:avLst/>
          </a:prstGeom>
          <a:noFill/>
          <a:ln/>
        </p:spPr>
        <p:txBody>
          <a:bodyPr wrap="square" lIns="0" tIns="0" rIns="0" bIns="0" rtlCol="0" anchor="t"/>
          <a:lstStyle/>
          <a:p>
            <a:pPr algn="ctr" indent="0" marL="0">
              <a:buNone/>
            </a:pPr>
            <a:r>
              <a:rPr lang="en-US" sz="1600" b="1" dirty="0">
                <a:solidFill>
                  <a:schemeClr val="tx2"/>
                </a:solidFill>
              </a:rPr>
              <a:t>Carga transaccional</a:t>
            </a:r>
            <a:endParaRPr lang="en-US" sz="1600" dirty="0"/>
          </a:p>
        </p:txBody>
      </p:sp>
      <p:sp>
        <p:nvSpPr>
          <p:cNvPr id="17" name="Text 12"/>
          <p:cNvSpPr txBox="1"/>
          <p:nvPr/>
        </p:nvSpPr>
        <p:spPr>
          <a:xfrm>
            <a:off x="5166360" y="2926080"/>
            <a:ext cx="2057400" cy="1005840"/>
          </a:xfrm>
          <a:prstGeom prst="rect">
            <a:avLst/>
          </a:prstGeom>
          <a:noFill/>
          <a:ln/>
        </p:spPr>
        <p:txBody>
          <a:bodyPr wrap="square" lIns="0" tIns="0" rIns="0" bIns="0" rtlCol="0" anchor="t"/>
          <a:lstStyle/>
          <a:p>
            <a:pPr algn="ctr" indent="0" marL="0">
              <a:buNone/>
            </a:pPr>
            <a:r>
              <a:rPr lang="en-US" sz="1400" dirty="0">
                <a:solidFill>
                  <a:schemeClr val="tx1"/>
                </a:solidFill>
              </a:rPr>
              <a:t>1,19 M filas en ~90 s con todas las reglas activas</a:t>
            </a:r>
            <a:endParaRPr lang="en-US" sz="1400" dirty="0"/>
          </a:p>
        </p:txBody>
      </p:sp>
      <p:sp>
        <p:nvSpPr>
          <p:cNvPr id="18" name="paso3_circulo"/>
          <p:cNvSpPr/>
          <p:nvPr/>
        </p:nvSpPr>
        <p:spPr>
          <a:xfrm>
            <a:off x="8046720" y="1417320"/>
            <a:ext cx="868680" cy="868680"/>
          </a:xfrm>
          <a:prstGeom prst="ellipse">
            <a:avLst/>
          </a:prstGeom>
          <a:solidFill>
            <a:srgbClr val="2A78D6"/>
          </a:solidFill>
          <a:ln w="12700">
            <a:solidFill>
              <a:srgbClr val="2A78D6"/>
            </a:solidFill>
            <a:prstDash val="solid"/>
          </a:ln>
        </p:spPr>
      </p:sp>
      <p:pic>
        <p:nvPicPr>
          <p:cNvPr id="19" name="paso3_icono" descr="preencoded.png">    </p:cNvPr>
          <p:cNvPicPr>
            <a:picLocks noChangeAspect="1"/>
          </p:cNvPicPr>
          <p:nvPr/>
        </p:nvPicPr>
        <p:blipFill>
          <a:blip r:embed="rId4"/>
          <a:stretch>
            <a:fillRect/>
          </a:stretch>
        </p:blipFill>
        <p:spPr>
          <a:xfrm>
            <a:off x="8255203" y="1625803"/>
            <a:ext cx="451714" cy="451714"/>
          </a:xfrm>
          <a:prstGeom prst="rect">
            <a:avLst/>
          </a:prstGeom>
        </p:spPr>
      </p:pic>
      <p:sp>
        <p:nvSpPr>
          <p:cNvPr id="20" name="flecha3"/>
          <p:cNvSpPr/>
          <p:nvPr/>
        </p:nvSpPr>
        <p:spPr>
          <a:xfrm>
            <a:off x="9098280" y="1673352"/>
            <a:ext cx="411480" cy="365760"/>
          </a:xfrm>
          <a:prstGeom prst="rightArrow">
            <a:avLst/>
          </a:prstGeom>
          <a:solidFill>
            <a:schemeClr val="accent6"/>
          </a:solidFill>
          <a:ln w="12700">
            <a:solidFill>
              <a:schemeClr val="accent6"/>
            </a:solidFill>
            <a:prstDash val="solid"/>
          </a:ln>
        </p:spPr>
      </p:sp>
      <p:sp>
        <p:nvSpPr>
          <p:cNvPr id="21" name="Text 15"/>
          <p:cNvSpPr txBox="1"/>
          <p:nvPr/>
        </p:nvSpPr>
        <p:spPr>
          <a:xfrm>
            <a:off x="7406640" y="2468880"/>
            <a:ext cx="2148840" cy="457200"/>
          </a:xfrm>
          <a:prstGeom prst="rect">
            <a:avLst/>
          </a:prstGeom>
          <a:noFill/>
          <a:ln/>
        </p:spPr>
        <p:txBody>
          <a:bodyPr wrap="square" lIns="0" tIns="0" rIns="0" bIns="0" rtlCol="0" anchor="t"/>
          <a:lstStyle/>
          <a:p>
            <a:pPr algn="ctr" indent="0" marL="0">
              <a:buNone/>
            </a:pPr>
            <a:r>
              <a:rPr lang="en-US" sz="1600" b="1" dirty="0">
                <a:solidFill>
                  <a:schemeClr val="tx2"/>
                </a:solidFill>
              </a:rPr>
              <a:t>20 consultas</a:t>
            </a:r>
            <a:endParaRPr lang="en-US" sz="1600" dirty="0"/>
          </a:p>
        </p:txBody>
      </p:sp>
      <p:sp>
        <p:nvSpPr>
          <p:cNvPr id="22" name="Text 16"/>
          <p:cNvSpPr txBox="1"/>
          <p:nvPr/>
        </p:nvSpPr>
        <p:spPr>
          <a:xfrm>
            <a:off x="7452360" y="2926080"/>
            <a:ext cx="2057400" cy="1005840"/>
          </a:xfrm>
          <a:prstGeom prst="rect">
            <a:avLst/>
          </a:prstGeom>
          <a:noFill/>
          <a:ln/>
        </p:spPr>
        <p:txBody>
          <a:bodyPr wrap="square" lIns="0" tIns="0" rIns="0" bIns="0" rtlCol="0" anchor="t"/>
          <a:lstStyle/>
          <a:p>
            <a:pPr algn="ctr" indent="0" marL="0">
              <a:buNone/>
            </a:pPr>
            <a:r>
              <a:rPr lang="en-US" sz="1400" dirty="0">
                <a:solidFill>
                  <a:schemeClr val="tx1"/>
                </a:solidFill>
              </a:rPr>
              <a:t>parámetros enlazados (?) → CSV y manifiesto</a:t>
            </a:r>
            <a:endParaRPr lang="en-US" sz="1400" dirty="0"/>
          </a:p>
        </p:txBody>
      </p:sp>
      <p:sp>
        <p:nvSpPr>
          <p:cNvPr id="23" name="paso4_circulo"/>
          <p:cNvSpPr/>
          <p:nvPr/>
        </p:nvSpPr>
        <p:spPr>
          <a:xfrm>
            <a:off x="10332720" y="1417320"/>
            <a:ext cx="868680" cy="868680"/>
          </a:xfrm>
          <a:prstGeom prst="ellipse">
            <a:avLst/>
          </a:prstGeom>
          <a:solidFill>
            <a:srgbClr val="2A78D6"/>
          </a:solidFill>
          <a:ln w="12700">
            <a:solidFill>
              <a:srgbClr val="2A78D6"/>
            </a:solidFill>
            <a:prstDash val="solid"/>
          </a:ln>
        </p:spPr>
      </p:sp>
      <p:pic>
        <p:nvPicPr>
          <p:cNvPr id="24" name="paso4_icono" descr="preencoded.png">    </p:cNvPr>
          <p:cNvPicPr>
            <a:picLocks noChangeAspect="1"/>
          </p:cNvPicPr>
          <p:nvPr/>
        </p:nvPicPr>
        <p:blipFill>
          <a:blip r:embed="rId5"/>
          <a:stretch>
            <a:fillRect/>
          </a:stretch>
        </p:blipFill>
        <p:spPr>
          <a:xfrm>
            <a:off x="10541203" y="1625803"/>
            <a:ext cx="451714" cy="451714"/>
          </a:xfrm>
          <a:prstGeom prst="rect">
            <a:avLst/>
          </a:prstGeom>
        </p:spPr>
      </p:pic>
      <p:sp>
        <p:nvSpPr>
          <p:cNvPr id="25" name="Text 18"/>
          <p:cNvSpPr txBox="1"/>
          <p:nvPr/>
        </p:nvSpPr>
        <p:spPr>
          <a:xfrm>
            <a:off x="9692640" y="2468880"/>
            <a:ext cx="2148840" cy="457200"/>
          </a:xfrm>
          <a:prstGeom prst="rect">
            <a:avLst/>
          </a:prstGeom>
          <a:noFill/>
          <a:ln/>
        </p:spPr>
        <p:txBody>
          <a:bodyPr wrap="square" lIns="0" tIns="0" rIns="0" bIns="0" rtlCol="0" anchor="t"/>
          <a:lstStyle/>
          <a:p>
            <a:pPr algn="ctr" indent="0" marL="0">
              <a:buNone/>
            </a:pPr>
            <a:r>
              <a:rPr lang="en-US" sz="1600" b="1" dirty="0">
                <a:solidFill>
                  <a:schemeClr val="tx2"/>
                </a:solidFill>
              </a:rPr>
              <a:t>Gráficos e informe</a:t>
            </a:r>
            <a:endParaRPr lang="en-US" sz="1600" dirty="0"/>
          </a:p>
        </p:txBody>
      </p:sp>
      <p:sp>
        <p:nvSpPr>
          <p:cNvPr id="26" name="Text 19"/>
          <p:cNvSpPr txBox="1"/>
          <p:nvPr/>
        </p:nvSpPr>
        <p:spPr>
          <a:xfrm>
            <a:off x="9738360" y="2926080"/>
            <a:ext cx="2057400" cy="1005840"/>
          </a:xfrm>
          <a:prstGeom prst="rect">
            <a:avLst/>
          </a:prstGeom>
          <a:noFill/>
          <a:ln/>
        </p:spPr>
        <p:txBody>
          <a:bodyPr wrap="square" lIns="0" tIns="0" rIns="0" bIns="0" rtlCol="0" anchor="t"/>
          <a:lstStyle/>
          <a:p>
            <a:pPr algn="ctr" indent="0" marL="0">
              <a:buNone/>
            </a:pPr>
            <a:r>
              <a:rPr lang="en-US" sz="1400" dirty="0">
                <a:solidFill>
                  <a:schemeClr val="tx1"/>
                </a:solidFill>
              </a:rPr>
              <a:t>figuras, diccionario y diagramas desde el catálogo</a:t>
            </a:r>
            <a:endParaRPr lang="en-US" sz="1400" dirty="0"/>
          </a:p>
        </p:txBody>
      </p:sp>
      <p:sp>
        <p:nvSpPr>
          <p:cNvPr id="27" name="comando"/>
          <p:cNvSpPr/>
          <p:nvPr/>
        </p:nvSpPr>
        <p:spPr>
          <a:xfrm>
            <a:off x="548640" y="4251960"/>
            <a:ext cx="11064240" cy="1188720"/>
          </a:xfrm>
          <a:prstGeom prst="roundRect">
            <a:avLst>
              <a:gd name="adj" fmla="val 6154"/>
            </a:avLst>
          </a:prstGeom>
          <a:solidFill>
            <a:schemeClr val="tx2"/>
          </a:solidFill>
          <a:ln w="12700">
            <a:solidFill>
              <a:schemeClr val="tx2"/>
            </a:solidFill>
            <a:prstDash val="solid"/>
          </a:ln>
        </p:spPr>
      </p:sp>
      <p:sp>
        <p:nvSpPr>
          <p:cNvPr id="28" name="Text 21"/>
          <p:cNvSpPr txBox="1"/>
          <p:nvPr/>
        </p:nvSpPr>
        <p:spPr>
          <a:xfrm>
            <a:off x="822960" y="4434840"/>
            <a:ext cx="10515600" cy="457200"/>
          </a:xfrm>
          <a:prstGeom prst="rect">
            <a:avLst/>
          </a:prstGeom>
          <a:noFill/>
          <a:ln/>
        </p:spPr>
        <p:txBody>
          <a:bodyPr wrap="square" lIns="0" tIns="0" rIns="0" bIns="0" rtlCol="0" anchor="t"/>
          <a:lstStyle/>
          <a:p>
            <a:pPr indent="0" marL="0">
              <a:buNone/>
            </a:pPr>
            <a:r>
              <a:rPr lang="en-US" sz="2200" b="1" dirty="0">
                <a:solidFill>
                  <a:schemeClr val="bg1"/>
                </a:solidFill>
                <a:latin typeface="Courier New" pitchFamily="34" charset="0"/>
                <a:ea typeface="Courier New" pitchFamily="34" charset="-122"/>
                <a:cs typeface="Courier New" pitchFamily="34" charset="-120"/>
              </a:rPr>
              <a:t>python -m aerolinea reproducir --confirmar-destruccion</a:t>
            </a:r>
            <a:endParaRPr lang="en-US" sz="2200" dirty="0"/>
          </a:p>
        </p:txBody>
      </p:sp>
      <p:sp>
        <p:nvSpPr>
          <p:cNvPr id="29" name="Text 22"/>
          <p:cNvSpPr txBox="1"/>
          <p:nvPr/>
        </p:nvSpPr>
        <p:spPr>
          <a:xfrm>
            <a:off x="822960" y="4919472"/>
            <a:ext cx="10515600" cy="411480"/>
          </a:xfrm>
          <a:prstGeom prst="rect">
            <a:avLst/>
          </a:prstGeom>
          <a:noFill/>
          <a:ln/>
        </p:spPr>
        <p:txBody>
          <a:bodyPr wrap="square" lIns="0" tIns="0" rIns="0" bIns="0" rtlCol="0" anchor="t"/>
          <a:lstStyle/>
          <a:p>
            <a:pPr indent="0" marL="0">
              <a:buNone/>
            </a:pPr>
            <a:r>
              <a:rPr lang="en-US" sz="1400" dirty="0">
                <a:solidFill>
                  <a:schemeClr val="accent6"/>
                </a:solidFill>
              </a:rPr>
              <a:t>verificar conexión → base local nueva → carga → pruebas → consultas → gráficos → documentación</a:t>
            </a:r>
            <a:endParaRPr lang="en-US" sz="1400" dirty="0"/>
          </a:p>
        </p:txBody>
      </p:sp>
      <p:sp>
        <p:nvSpPr>
          <p:cNvPr id="30" name="Text 23"/>
          <p:cNvSpPr txBox="1"/>
          <p:nvPr/>
        </p:nvSpPr>
        <p:spPr>
          <a:xfrm>
            <a:off x="548640" y="5623560"/>
            <a:ext cx="11064240" cy="640080"/>
          </a:xfrm>
          <a:prstGeom prst="rect">
            <a:avLst/>
          </a:prstGeom>
          <a:noFill/>
          <a:ln/>
        </p:spPr>
        <p:txBody>
          <a:bodyPr wrap="square" lIns="0" tIns="0" rIns="0" bIns="0" rtlCol="0" anchor="t"/>
          <a:lstStyle/>
          <a:p>
            <a:pPr indent="0" marL="0">
              <a:buNone/>
            </a:pPr>
            <a:r>
              <a:rPr lang="en-US" sz="1400" dirty="0">
                <a:solidFill>
                  <a:schemeClr val="accent5"/>
                </a:solidFill>
              </a:rPr>
              <a:t>La carga no desactiva ninguna regla: si un dato sintético viola una restricción, la transacción completa se revierte. Que termine es una prueba de integración.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Demostración en vivo</a:t>
            </a:r>
            <a:endParaRPr lang="en-US" sz="3200" dirty="0"/>
          </a:p>
        </p:txBody>
      </p:sp>
      <p:sp>
        <p:nvSpPr>
          <p:cNvPr id="3" name="terminal"/>
          <p:cNvSpPr/>
          <p:nvPr/>
        </p:nvSpPr>
        <p:spPr>
          <a:xfrm>
            <a:off x="548640" y="1325880"/>
            <a:ext cx="6766560" cy="4846320"/>
          </a:xfrm>
          <a:prstGeom prst="roundRect">
            <a:avLst>
              <a:gd name="adj" fmla="val 1509"/>
            </a:avLst>
          </a:prstGeom>
          <a:solidFill>
            <a:srgbClr val="1E1E1E"/>
          </a:solidFill>
          <a:ln w="12700">
            <a:solidFill>
              <a:srgbClr val="1E1E1E"/>
            </a:solidFill>
            <a:prstDash val="solid"/>
          </a:ln>
        </p:spPr>
      </p:sp>
      <p:sp>
        <p:nvSpPr>
          <p:cNvPr id="4" name="Text 2"/>
          <p:cNvSpPr txBox="1"/>
          <p:nvPr/>
        </p:nvSpPr>
        <p:spPr>
          <a:xfrm>
            <a:off x="822960" y="1554480"/>
            <a:ext cx="6309360" cy="4480560"/>
          </a:xfrm>
          <a:prstGeom prst="rect">
            <a:avLst/>
          </a:prstGeom>
          <a:noFill/>
          <a:ln/>
        </p:spPr>
        <p:txBody>
          <a:bodyPr wrap="square" lIns="0" tIns="0" rIns="0" bIns="0" rtlCol="0" anchor="t"/>
          <a:lstStyle/>
          <a:p>
            <a:pPr indent="0" marL="0">
              <a:buNone/>
            </a:pPr>
            <a:r>
              <a:rPr lang="en-US" sz="1500" dirty="0">
                <a:solidFill>
                  <a:srgbClr val="FCA311"/>
                </a:solidFill>
                <a:latin typeface="Courier New" pitchFamily="34" charset="0"/>
                <a:ea typeface="Courier New" pitchFamily="34" charset="-122"/>
                <a:cs typeface="Courier New" pitchFamily="34" charset="-120"/>
              </a:rPr>
              <a:t>&gt; python -m aerolinea verificar-conexion</a:t>
            </a:r>
            <a:endParaRPr lang="en-US" sz="1500" dirty="0"/>
          </a:p>
          <a:p>
            <a:pPr indent="0" marL="0">
              <a:buNone/>
            </a:pPr>
            <a:r>
              <a:rPr lang="en-US" sz="1500" dirty="0">
                <a:solidFill>
                  <a:srgbClr val="BFBFBF"/>
                </a:solidFill>
                <a:latin typeface="Courier New" pitchFamily="34" charset="0"/>
                <a:ea typeface="Courier New" pitchFamily="34" charset="-122"/>
                <a:cs typeface="Courier New" pitchFamily="34" charset="-120"/>
              </a:rPr>
              <a:t>  servidor, edición, versión, usuario, cifrado</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FCA311"/>
                </a:solidFill>
                <a:latin typeface="Courier New" pitchFamily="34" charset="0"/>
                <a:ea typeface="Courier New" pitchFamily="34" charset="-122"/>
                <a:cs typeface="Courier New" pitchFamily="34" charset="-120"/>
              </a:rPr>
              <a:t>&gt; python -m aerolinea demo</a:t>
            </a:r>
            <a:endParaRPr lang="en-US" sz="1500" dirty="0"/>
          </a:p>
          <a:p>
            <a:pPr indent="0" marL="0">
              <a:buNone/>
            </a:pPr>
            <a:r>
              <a:rPr lang="en-US" sz="1500" dirty="0">
                <a:solidFill>
                  <a:srgbClr val="BFBFBF"/>
                </a:solidFill>
                <a:latin typeface="Courier New" pitchFamily="34" charset="0"/>
                <a:ea typeface="Courier New" pitchFamily="34" charset="-122"/>
                <a:cs typeface="Courier New" pitchFamily="34" charset="-120"/>
              </a:rPr>
              <a:t>  A. sobrepago → error 50135 → se revierte TODO</a:t>
            </a:r>
            <a:endParaRPr lang="en-US" sz="1500" dirty="0"/>
          </a:p>
          <a:p>
            <a:pPr indent="0" marL="0">
              <a:buNone/>
            </a:pPr>
            <a:r>
              <a:rPr lang="en-US" sz="1500" dirty="0">
                <a:solidFill>
                  <a:srgbClr val="BFBFBF"/>
                </a:solidFill>
                <a:latin typeface="Courier New" pitchFamily="34" charset="0"/>
                <a:ea typeface="Courier New" pitchFamily="34" charset="-122"/>
                <a:cs typeface="Courier New" pitchFamily="34" charset="-120"/>
              </a:rPr>
              <a:t>  B. compra sin registro → pago 40 % → saldo</a:t>
            </a:r>
            <a:endParaRPr lang="en-US" sz="1500" dirty="0"/>
          </a:p>
          <a:p>
            <a:pPr indent="0" marL="0">
              <a:buNone/>
            </a:pPr>
            <a:r>
              <a:rPr lang="en-US" sz="1500" dirty="0">
                <a:solidFill>
                  <a:srgbClr val="BFBFBF"/>
                </a:solidFill>
                <a:latin typeface="Courier New" pitchFamily="34" charset="0"/>
                <a:ea typeface="Courier New" pitchFamily="34" charset="-122"/>
                <a:cs typeface="Courier New" pitchFamily="34" charset="-120"/>
              </a:rPr>
              <a:t>     → EMITIDO → cancelación → regla 24 h</a:t>
            </a:r>
            <a:endParaRPr lang="en-US" sz="1500" dirty="0"/>
          </a:p>
          <a:p>
            <a:pPr indent="0" marL="0">
              <a:buNone/>
            </a:pPr>
            <a:r>
              <a:rPr lang="en-US" sz="1500" dirty="0">
                <a:solidFill>
                  <a:srgbClr val="BFBFBF"/>
                </a:solidFill>
                <a:latin typeface="Courier New" pitchFamily="34" charset="0"/>
                <a:ea typeface="Courier New" pitchFamily="34" charset="-122"/>
                <a:cs typeface="Courier New" pitchFamily="34" charset="-120"/>
              </a:rPr>
              <a:t>  ROLLBACK: los datos del informe no cambian</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FCA311"/>
                </a:solidFill>
                <a:latin typeface="Courier New" pitchFamily="34" charset="0"/>
                <a:ea typeface="Courier New" pitchFamily="34" charset="-122"/>
                <a:cs typeface="Courier New" pitchFamily="34" charset="-120"/>
              </a:rPr>
              <a:t>&gt; python -m aerolinea consultas --id Q16</a:t>
            </a:r>
            <a:endParaRPr lang="en-US" sz="1500" dirty="0"/>
          </a:p>
          <a:p>
            <a:pPr indent="0" marL="0">
              <a:buNone/>
            </a:pPr>
            <a:r>
              <a:rPr lang="en-US" sz="1500" dirty="0">
                <a:solidFill>
                  <a:srgbClr val="FCA311"/>
                </a:solidFill>
                <a:latin typeface="Courier New" pitchFamily="34" charset="0"/>
                <a:ea typeface="Courier New" pitchFamily="34" charset="-122"/>
                <a:cs typeface="Courier New" pitchFamily="34" charset="-120"/>
              </a:rPr>
              <a:t>      --param dias=7 origen=JFK</a:t>
            </a:r>
            <a:endParaRPr lang="en-US" sz="1500" dirty="0"/>
          </a:p>
          <a:p>
            <a:pPr indent="0" marL="0">
              <a:buNone/>
            </a:pPr>
            <a:r>
              <a:rPr lang="en-US" sz="1500" dirty="0">
                <a:solidFill>
                  <a:srgbClr val="BFBFBF"/>
                </a:solidFill>
                <a:latin typeface="Courier New" pitchFamily="34" charset="0"/>
                <a:ea typeface="Courier New" pitchFamily="34" charset="-122"/>
                <a:cs typeface="Courier New" pitchFamily="34" charset="-120"/>
              </a:rPr>
              <a:t>  disponibilidad y tarifa vigente → CSV</a:t>
            </a:r>
            <a:endParaRPr lang="en-US" sz="1500" dirty="0"/>
          </a:p>
        </p:txBody>
      </p:sp>
      <p:sp>
        <p:nvSpPr>
          <p:cNvPr id="5" name="Text 3"/>
          <p:cNvSpPr txBox="1"/>
          <p:nvPr/>
        </p:nvSpPr>
        <p:spPr>
          <a:xfrm>
            <a:off x="7635240" y="1371600"/>
            <a:ext cx="3977640" cy="1051560"/>
          </a:xfrm>
          <a:prstGeom prst="rect">
            <a:avLst/>
          </a:prstGeom>
          <a:noFill/>
          <a:ln/>
        </p:spPr>
        <p:txBody>
          <a:bodyPr wrap="square" lIns="0" tIns="0" rIns="0" bIns="0" rtlCol="0" anchor="t"/>
          <a:lstStyle/>
          <a:p>
            <a:pPr indent="0" marL="0">
              <a:buNone/>
            </a:pPr>
            <a:r>
              <a:rPr lang="en-US" sz="1600" b="1" dirty="0">
                <a:solidFill>
                  <a:schemeClr val="tx2"/>
                </a:solidFill>
              </a:rPr>
              <a:t>Atomicidad</a:t>
            </a:r>
            <a:endParaRPr lang="en-US" sz="1500" dirty="0"/>
          </a:p>
          <a:p>
            <a:pPr indent="0" marL="0">
              <a:buNone/>
            </a:pPr>
            <a:r>
              <a:rPr lang="en-US" sz="1400" dirty="0">
                <a:solidFill>
                  <a:schemeClr val="tx1"/>
                </a:solidFill>
              </a:rPr>
              <a:t>un error de negocio deshace persona, reserva y pago parcial</a:t>
            </a:r>
            <a:endParaRPr lang="en-US" sz="1500" dirty="0"/>
          </a:p>
        </p:txBody>
      </p:sp>
      <p:sp>
        <p:nvSpPr>
          <p:cNvPr id="6" name="Text 4"/>
          <p:cNvSpPr txBox="1"/>
          <p:nvPr/>
        </p:nvSpPr>
        <p:spPr>
          <a:xfrm>
            <a:off x="7635240" y="2560320"/>
            <a:ext cx="3977640" cy="1051560"/>
          </a:xfrm>
          <a:prstGeom prst="rect">
            <a:avLst/>
          </a:prstGeom>
          <a:noFill/>
          <a:ln/>
        </p:spPr>
        <p:txBody>
          <a:bodyPr wrap="square" lIns="0" tIns="0" rIns="0" bIns="0" rtlCol="0" anchor="t"/>
          <a:lstStyle/>
          <a:p>
            <a:pPr indent="0" marL="0">
              <a:buNone/>
            </a:pPr>
            <a:r>
              <a:rPr lang="en-US" sz="1600" b="1" dirty="0">
                <a:solidFill>
                  <a:schemeClr val="tx2"/>
                </a:solidFill>
              </a:rPr>
              <a:t>Pagos parciales</a:t>
            </a:r>
            <a:endParaRPr lang="en-US" sz="1500" dirty="0"/>
          </a:p>
          <a:p>
            <a:pPr indent="0" marL="0">
              <a:buNone/>
            </a:pPr>
            <a:r>
              <a:rPr lang="en-US" sz="1400" dirty="0">
                <a:solidFill>
                  <a:schemeClr val="tx1"/>
                </a:solidFill>
              </a:rPr>
              <a:t>el tiquete pasa a EMITIDO solo con el pago completo</a:t>
            </a:r>
            <a:endParaRPr lang="en-US" sz="1500" dirty="0"/>
          </a:p>
        </p:txBody>
      </p:sp>
      <p:sp>
        <p:nvSpPr>
          <p:cNvPr id="7" name="Text 5"/>
          <p:cNvSpPr txBox="1"/>
          <p:nvPr/>
        </p:nvSpPr>
        <p:spPr>
          <a:xfrm>
            <a:off x="7635240" y="3749040"/>
            <a:ext cx="3977640" cy="1051560"/>
          </a:xfrm>
          <a:prstGeom prst="rect">
            <a:avLst/>
          </a:prstGeom>
          <a:noFill/>
          <a:ln/>
        </p:spPr>
        <p:txBody>
          <a:bodyPr wrap="square" lIns="0" tIns="0" rIns="0" bIns="0" rtlCol="0" anchor="t"/>
          <a:lstStyle/>
          <a:p>
            <a:pPr indent="0" marL="0">
              <a:buNone/>
            </a:pPr>
            <a:r>
              <a:rPr lang="en-US" sz="1600" b="1" dirty="0">
                <a:solidFill>
                  <a:schemeClr val="tx2"/>
                </a:solidFill>
              </a:rPr>
              <a:t>Política de reembolso</a:t>
            </a:r>
            <a:endParaRPr lang="en-US" sz="1500" dirty="0"/>
          </a:p>
          <a:p>
            <a:pPr indent="0" marL="0">
              <a:buNone/>
            </a:pPr>
            <a:r>
              <a:rPr lang="en-US" sz="1400" dirty="0">
                <a:solidFill>
                  <a:schemeClr val="tx1"/>
                </a:solidFill>
              </a:rPr>
              <a:t>la misma función que usan el procedimiento y las consultas</a:t>
            </a:r>
            <a:endParaRPr lang="en-US" sz="1500" dirty="0"/>
          </a:p>
        </p:txBody>
      </p:sp>
      <p:sp>
        <p:nvSpPr>
          <p:cNvPr id="8" name="Text 6"/>
          <p:cNvSpPr txBox="1"/>
          <p:nvPr/>
        </p:nvSpPr>
        <p:spPr>
          <a:xfrm>
            <a:off x="7635240" y="4937760"/>
            <a:ext cx="3977640" cy="1051560"/>
          </a:xfrm>
          <a:prstGeom prst="rect">
            <a:avLst/>
          </a:prstGeom>
          <a:noFill/>
          <a:ln/>
        </p:spPr>
        <p:txBody>
          <a:bodyPr wrap="square" lIns="0" tIns="0" rIns="0" bIns="0" rtlCol="0" anchor="t"/>
          <a:lstStyle/>
          <a:p>
            <a:pPr indent="0" marL="0">
              <a:buNone/>
            </a:pPr>
            <a:r>
              <a:rPr lang="en-US" sz="1600" b="1" dirty="0">
                <a:solidFill>
                  <a:schemeClr val="tx2"/>
                </a:solidFill>
              </a:rPr>
              <a:t>Plan B</a:t>
            </a:r>
            <a:endParaRPr lang="en-US" sz="1500" dirty="0"/>
          </a:p>
          <a:p>
            <a:pPr indent="0" marL="0">
              <a:buNone/>
            </a:pPr>
            <a:r>
              <a:rPr lang="en-US" sz="1400" dirty="0">
                <a:solidFill>
                  <a:schemeClr val="tx1"/>
                </a:solidFill>
              </a:rPr>
              <a:t>si falla la conexión: evidence/contenedor_linux/demo_procedimientos.txt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Ventas, cobros y reembolsos son magnitudes distintas</a:t>
            </a:r>
            <a:endParaRPr lang="en-US" sz="3200" dirty="0"/>
          </a:p>
        </p:txBody>
      </p:sp>
      <p:graphicFrame>
        <p:nvGraphicFramePr>
          <p:cNvPr id="3" name="grafico_flujo" descr=""/>
          <p:cNvGraphicFramePr/>
          <p:nvPr/>
        </p:nvGraphicFramePr>
        <p:xfrm>
          <a:off x="548640" y="128016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4" name="destacado0"/>
          <p:cNvSpPr/>
          <p:nvPr/>
        </p:nvSpPr>
        <p:spPr>
          <a:xfrm>
            <a:off x="7772400" y="1325880"/>
            <a:ext cx="3840480" cy="146304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7955280" y="1435608"/>
            <a:ext cx="3474720" cy="54864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0,00 USD</a:t>
            </a:r>
            <a:endParaRPr lang="en-US" sz="2600" dirty="0"/>
          </a:p>
        </p:txBody>
      </p:sp>
      <p:sp>
        <p:nvSpPr>
          <p:cNvPr id="6" name="Text 3"/>
          <p:cNvSpPr txBox="1"/>
          <p:nvPr/>
        </p:nvSpPr>
        <p:spPr>
          <a:xfrm>
            <a:off x="7955280" y="2011680"/>
            <a:ext cx="3474720" cy="731520"/>
          </a:xfrm>
          <a:prstGeom prst="rect">
            <a:avLst/>
          </a:prstGeom>
          <a:noFill/>
          <a:ln/>
        </p:spPr>
        <p:txBody>
          <a:bodyPr wrap="square" lIns="0" tIns="0" rIns="0" bIns="0" rtlCol="0" anchor="t"/>
          <a:lstStyle/>
          <a:p>
            <a:pPr indent="0" marL="0">
              <a:buNone/>
            </a:pPr>
            <a:r>
              <a:rPr lang="en-US" sz="1300" dirty="0">
                <a:solidFill>
                  <a:schemeClr val="tx1"/>
                </a:solidFill>
              </a:rPr>
              <a:t>diferencia en la identidad de caja (cobros − reembolsos = ventas emitidas + abonos + penalidades)</a:t>
            </a:r>
            <a:endParaRPr lang="en-US" sz="1300" dirty="0"/>
          </a:p>
        </p:txBody>
      </p:sp>
      <p:sp>
        <p:nvSpPr>
          <p:cNvPr id="7" name="destacado1"/>
          <p:cNvSpPr/>
          <p:nvPr/>
        </p:nvSpPr>
        <p:spPr>
          <a:xfrm>
            <a:off x="7772400" y="2971800"/>
            <a:ext cx="3840480" cy="1463040"/>
          </a:xfrm>
          <a:prstGeom prst="roundRect">
            <a:avLst>
              <a:gd name="adj" fmla="val 5000"/>
            </a:avLst>
          </a:prstGeom>
          <a:solidFill>
            <a:schemeClr val="bg2"/>
          </a:solidFill>
          <a:ln w="12700">
            <a:solidFill>
              <a:schemeClr val="bg2"/>
            </a:solidFill>
            <a:prstDash val="solid"/>
          </a:ln>
        </p:spPr>
      </p:sp>
      <p:sp>
        <p:nvSpPr>
          <p:cNvPr id="8" name="Text 5"/>
          <p:cNvSpPr txBox="1"/>
          <p:nvPr/>
        </p:nvSpPr>
        <p:spPr>
          <a:xfrm>
            <a:off x="7955280" y="3081528"/>
            <a:ext cx="3474720" cy="54864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72,27 → 87,78 M USD</a:t>
            </a:r>
            <a:endParaRPr lang="en-US" sz="2600" dirty="0"/>
          </a:p>
        </p:txBody>
      </p:sp>
      <p:sp>
        <p:nvSpPr>
          <p:cNvPr id="9" name="Text 6"/>
          <p:cNvSpPr txBox="1"/>
          <p:nvPr/>
        </p:nvSpPr>
        <p:spPr>
          <a:xfrm>
            <a:off x="7955280" y="3657600"/>
            <a:ext cx="3474720" cy="731520"/>
          </a:xfrm>
          <a:prstGeom prst="rect">
            <a:avLst/>
          </a:prstGeom>
          <a:noFill/>
          <a:ln/>
        </p:spPr>
        <p:txBody>
          <a:bodyPr wrap="square" lIns="0" tIns="0" rIns="0" bIns="0" rtlCol="0" anchor="t"/>
          <a:lstStyle/>
          <a:p>
            <a:pPr indent="0" marL="0">
              <a:buNone/>
            </a:pPr>
            <a:r>
              <a:rPr lang="en-US" sz="1300" dirty="0">
                <a:solidFill>
                  <a:schemeClr val="tx1"/>
                </a:solidFill>
              </a:rPr>
              <a:t>lo que «cobra» una unión ingenua de pagos y reembolsos: importes multiplicados (PR-20)</a:t>
            </a:r>
            <a:endParaRPr lang="en-US" sz="1300" dirty="0"/>
          </a:p>
        </p:txBody>
      </p:sp>
      <p:sp>
        <p:nvSpPr>
          <p:cNvPr id="10" name="destacado2"/>
          <p:cNvSpPr/>
          <p:nvPr/>
        </p:nvSpPr>
        <p:spPr>
          <a:xfrm>
            <a:off x="7772400" y="4617720"/>
            <a:ext cx="3840480" cy="1463040"/>
          </a:xfrm>
          <a:prstGeom prst="roundRect">
            <a:avLst>
              <a:gd name="adj" fmla="val 5000"/>
            </a:avLst>
          </a:prstGeom>
          <a:solidFill>
            <a:schemeClr val="bg2"/>
          </a:solidFill>
          <a:ln w="12700">
            <a:solidFill>
              <a:schemeClr val="bg2"/>
            </a:solidFill>
            <a:prstDash val="solid"/>
          </a:ln>
        </p:spPr>
      </p:sp>
      <p:sp>
        <p:nvSpPr>
          <p:cNvPr id="11" name="Text 8"/>
          <p:cNvSpPr txBox="1"/>
          <p:nvPr/>
        </p:nvSpPr>
        <p:spPr>
          <a:xfrm>
            <a:off x="7955280" y="4727448"/>
            <a:ext cx="3474720" cy="54864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68,9 % · 53,0 %</a:t>
            </a:r>
            <a:endParaRPr lang="en-US" sz="2600" dirty="0"/>
          </a:p>
        </p:txBody>
      </p:sp>
      <p:sp>
        <p:nvSpPr>
          <p:cNvPr id="12" name="Text 9"/>
          <p:cNvSpPr txBox="1"/>
          <p:nvPr/>
        </p:nvSpPr>
        <p:spPr>
          <a:xfrm>
            <a:off x="7955280" y="5303520"/>
            <a:ext cx="3474720" cy="731520"/>
          </a:xfrm>
          <a:prstGeom prst="rect">
            <a:avLst/>
          </a:prstGeom>
          <a:noFill/>
          <a:ln/>
        </p:spPr>
        <p:txBody>
          <a:bodyPr wrap="square" lIns="0" tIns="0" rIns="0" bIns="0" rtlCol="0" anchor="t"/>
          <a:lstStyle/>
          <a:p>
            <a:pPr indent="0" marL="0">
              <a:buNone/>
            </a:pPr>
            <a:r>
              <a:rPr lang="en-US" sz="1300" dirty="0">
                <a:solidFill>
                  <a:schemeClr val="tx1"/>
                </a:solidFill>
              </a:rPr>
              <a:t>ocupación ponderada ECO · VIP en vuelos operados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Pruebas: 27 de 27 y 20 defectos corregidos</a:t>
            </a:r>
            <a:endParaRPr lang="en-US" sz="3200" dirty="0"/>
          </a:p>
        </p:txBody>
      </p:sp>
      <p:sp>
        <p:nvSpPr>
          <p:cNvPr id="3" name="grande0"/>
          <p:cNvSpPr/>
          <p:nvPr/>
        </p:nvSpPr>
        <p:spPr>
          <a:xfrm>
            <a:off x="548640" y="1325880"/>
            <a:ext cx="3657600" cy="1417320"/>
          </a:xfrm>
          <a:prstGeom prst="roundRect">
            <a:avLst>
              <a:gd name="adj" fmla="val 5161"/>
            </a:avLst>
          </a:prstGeom>
          <a:solidFill>
            <a:schemeClr val="bg2"/>
          </a:solidFill>
          <a:ln w="12700">
            <a:solidFill>
              <a:schemeClr val="bg2"/>
            </a:solidFill>
            <a:prstDash val="solid"/>
          </a:ln>
        </p:spPr>
      </p:sp>
      <p:sp>
        <p:nvSpPr>
          <p:cNvPr id="4" name="Text 2"/>
          <p:cNvSpPr txBox="1"/>
          <p:nvPr/>
        </p:nvSpPr>
        <p:spPr>
          <a:xfrm>
            <a:off x="777240" y="1417320"/>
            <a:ext cx="3200400" cy="77724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27/27</a:t>
            </a:r>
            <a:endParaRPr lang="en-US" sz="4000" dirty="0"/>
          </a:p>
        </p:txBody>
      </p:sp>
      <p:sp>
        <p:nvSpPr>
          <p:cNvPr id="5" name="Text 3"/>
          <p:cNvSpPr txBox="1"/>
          <p:nvPr/>
        </p:nvSpPr>
        <p:spPr>
          <a:xfrm>
            <a:off x="777240" y="2194560"/>
            <a:ext cx="3200400" cy="457200"/>
          </a:xfrm>
          <a:prstGeom prst="rect">
            <a:avLst/>
          </a:prstGeom>
          <a:noFill/>
          <a:ln/>
        </p:spPr>
        <p:txBody>
          <a:bodyPr wrap="square" lIns="0" tIns="0" rIns="0" bIns="0" rtlCol="0" anchor="t"/>
          <a:lstStyle/>
          <a:p>
            <a:pPr indent="0" marL="0">
              <a:buNone/>
            </a:pPr>
            <a:r>
              <a:rPr lang="en-US" sz="1400" dirty="0">
                <a:solidFill>
                  <a:schemeClr val="tx1"/>
                </a:solidFill>
              </a:rPr>
              <a:t>pruebas de reglas y de concurrencia</a:t>
            </a:r>
            <a:endParaRPr lang="en-US" sz="1400" dirty="0"/>
          </a:p>
        </p:txBody>
      </p:sp>
      <p:sp>
        <p:nvSpPr>
          <p:cNvPr id="6" name="grande1"/>
          <p:cNvSpPr/>
          <p:nvPr/>
        </p:nvSpPr>
        <p:spPr>
          <a:xfrm>
            <a:off x="548640" y="2926080"/>
            <a:ext cx="3657600" cy="1417320"/>
          </a:xfrm>
          <a:prstGeom prst="roundRect">
            <a:avLst>
              <a:gd name="adj" fmla="val 5161"/>
            </a:avLst>
          </a:prstGeom>
          <a:solidFill>
            <a:schemeClr val="bg2"/>
          </a:solidFill>
          <a:ln w="12700">
            <a:solidFill>
              <a:schemeClr val="bg2"/>
            </a:solidFill>
            <a:prstDash val="solid"/>
          </a:ln>
        </p:spPr>
      </p:sp>
      <p:sp>
        <p:nvSpPr>
          <p:cNvPr id="7" name="Text 5"/>
          <p:cNvSpPr txBox="1"/>
          <p:nvPr/>
        </p:nvSpPr>
        <p:spPr>
          <a:xfrm>
            <a:off x="777240" y="3017520"/>
            <a:ext cx="3200400" cy="77724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23/23</a:t>
            </a:r>
            <a:endParaRPr lang="en-US" sz="4000" dirty="0"/>
          </a:p>
        </p:txBody>
      </p:sp>
      <p:sp>
        <p:nvSpPr>
          <p:cNvPr id="8" name="Text 6"/>
          <p:cNvSpPr txBox="1"/>
          <p:nvPr/>
        </p:nvSpPr>
        <p:spPr>
          <a:xfrm>
            <a:off x="777240" y="3794760"/>
            <a:ext cx="3200400" cy="457200"/>
          </a:xfrm>
          <a:prstGeom prst="rect">
            <a:avLst/>
          </a:prstGeom>
          <a:noFill/>
          <a:ln/>
        </p:spPr>
        <p:txBody>
          <a:bodyPr wrap="square" lIns="0" tIns="0" rIns="0" bIns="0" rtlCol="0" anchor="t"/>
          <a:lstStyle/>
          <a:p>
            <a:pPr indent="0" marL="0">
              <a:buNone/>
            </a:pPr>
            <a:r>
              <a:rPr lang="en-US" sz="1400" dirty="0">
                <a:solidFill>
                  <a:schemeClr val="tx1"/>
                </a:solidFill>
              </a:rPr>
              <a:t>pruebas de la aplicación (pytest)</a:t>
            </a:r>
            <a:endParaRPr lang="en-US" sz="1400" dirty="0"/>
          </a:p>
        </p:txBody>
      </p:sp>
      <p:sp>
        <p:nvSpPr>
          <p:cNvPr id="9" name="grande2"/>
          <p:cNvSpPr/>
          <p:nvPr/>
        </p:nvSpPr>
        <p:spPr>
          <a:xfrm>
            <a:off x="548640" y="4526280"/>
            <a:ext cx="3657600" cy="1417320"/>
          </a:xfrm>
          <a:prstGeom prst="roundRect">
            <a:avLst>
              <a:gd name="adj" fmla="val 5161"/>
            </a:avLst>
          </a:prstGeom>
          <a:solidFill>
            <a:schemeClr val="bg2"/>
          </a:solidFill>
          <a:ln w="12700">
            <a:solidFill>
              <a:schemeClr val="bg2"/>
            </a:solidFill>
            <a:prstDash val="solid"/>
          </a:ln>
        </p:spPr>
      </p:sp>
      <p:sp>
        <p:nvSpPr>
          <p:cNvPr id="10" name="Text 8"/>
          <p:cNvSpPr txBox="1"/>
          <p:nvPr/>
        </p:nvSpPr>
        <p:spPr>
          <a:xfrm>
            <a:off x="777240" y="4617720"/>
            <a:ext cx="3200400" cy="77724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0</a:t>
            </a:r>
            <a:endParaRPr lang="en-US" sz="4000" dirty="0"/>
          </a:p>
        </p:txBody>
      </p:sp>
      <p:sp>
        <p:nvSpPr>
          <p:cNvPr id="11" name="Text 9"/>
          <p:cNvSpPr txBox="1"/>
          <p:nvPr/>
        </p:nvSpPr>
        <p:spPr>
          <a:xfrm>
            <a:off x="777240" y="5394960"/>
            <a:ext cx="3200400" cy="457200"/>
          </a:xfrm>
          <a:prstGeom prst="rect">
            <a:avLst/>
          </a:prstGeom>
          <a:noFill/>
          <a:ln/>
        </p:spPr>
        <p:txBody>
          <a:bodyPr wrap="square" lIns="0" tIns="0" rIns="0" bIns="0" rtlCol="0" anchor="t"/>
          <a:lstStyle/>
          <a:p>
            <a:pPr indent="0" marL="0">
              <a:buNone/>
            </a:pPr>
            <a:r>
              <a:rPr lang="en-US" sz="1400" dirty="0">
                <a:solidFill>
                  <a:schemeClr val="tx1"/>
                </a:solidFill>
              </a:rPr>
              <a:t>diferencias en los 9 controles de conciliación</a:t>
            </a:r>
            <a:endParaRPr lang="en-US" sz="1400" dirty="0"/>
          </a:p>
        </p:txBody>
      </p:sp>
      <p:sp>
        <p:nvSpPr>
          <p:cNvPr id="12" name="hallazgo0_circulo"/>
          <p:cNvSpPr/>
          <p:nvPr/>
        </p:nvSpPr>
        <p:spPr>
          <a:xfrm>
            <a:off x="4572000" y="1417320"/>
            <a:ext cx="640080" cy="640080"/>
          </a:xfrm>
          <a:prstGeom prst="ellipse">
            <a:avLst/>
          </a:prstGeom>
          <a:solidFill>
            <a:srgbClr val="EB6834"/>
          </a:solidFill>
          <a:ln w="12700">
            <a:solidFill>
              <a:srgbClr val="EB6834"/>
            </a:solidFill>
            <a:prstDash val="solid"/>
          </a:ln>
        </p:spPr>
      </p:sp>
      <p:pic>
        <p:nvPicPr>
          <p:cNvPr id="13" name="hallazgo0_icono" descr="preencoded.png">    </p:cNvPr>
          <p:cNvPicPr>
            <a:picLocks noChangeAspect="1"/>
          </p:cNvPicPr>
          <p:nvPr/>
        </p:nvPicPr>
        <p:blipFill>
          <a:blip r:embed="rId1"/>
          <a:stretch>
            <a:fillRect/>
          </a:stretch>
        </p:blipFill>
        <p:spPr>
          <a:xfrm>
            <a:off x="4725619" y="1570939"/>
            <a:ext cx="332842" cy="332842"/>
          </a:xfrm>
          <a:prstGeom prst="rect">
            <a:avLst/>
          </a:prstGeom>
        </p:spPr>
      </p:pic>
      <p:sp>
        <p:nvSpPr>
          <p:cNvPr id="14" name="Text 11"/>
          <p:cNvSpPr txBox="1"/>
          <p:nvPr/>
        </p:nvSpPr>
        <p:spPr>
          <a:xfrm>
            <a:off x="5394960" y="1325880"/>
            <a:ext cx="6217920" cy="1143000"/>
          </a:xfrm>
          <a:prstGeom prst="rect">
            <a:avLst/>
          </a:prstGeom>
          <a:noFill/>
          <a:ln/>
        </p:spPr>
        <p:txBody>
          <a:bodyPr wrap="square" lIns="0" tIns="0" rIns="0" bIns="0" rtlCol="0" anchor="t"/>
          <a:lstStyle/>
          <a:p>
            <a:pPr indent="0" marL="0">
              <a:buNone/>
            </a:pPr>
            <a:r>
              <a:rPr lang="en-US" sz="1600" b="1" dirty="0">
                <a:solidFill>
                  <a:schemeClr val="tx2"/>
                </a:solidFill>
              </a:rPr>
              <a:t>Plan reutilizado en triggers</a:t>
            </a:r>
            <a:endParaRPr lang="en-US" sz="1500" dirty="0"/>
          </a:p>
          <a:p>
            <a:pPr indent="0" marL="0">
              <a:buNone/>
            </a:pPr>
            <a:r>
              <a:rPr lang="en-US" sz="1400" dirty="0">
                <a:solidFill>
                  <a:schemeClr val="tx1"/>
                </a:solidFill>
              </a:rPr>
              <a:t>Compilado para una fila y aplicado a 300 000: la carga no terminaba. Corrección: RECOMPILE y sin «row goal».</a:t>
            </a:r>
            <a:endParaRPr lang="en-US" sz="1500" dirty="0"/>
          </a:p>
        </p:txBody>
      </p:sp>
      <p:sp>
        <p:nvSpPr>
          <p:cNvPr id="15" name="hallazgo1_circulo"/>
          <p:cNvSpPr/>
          <p:nvPr/>
        </p:nvSpPr>
        <p:spPr>
          <a:xfrm>
            <a:off x="4572000" y="2633472"/>
            <a:ext cx="640080" cy="640080"/>
          </a:xfrm>
          <a:prstGeom prst="ellipse">
            <a:avLst/>
          </a:prstGeom>
          <a:solidFill>
            <a:srgbClr val="EB6834"/>
          </a:solidFill>
          <a:ln w="12700">
            <a:solidFill>
              <a:srgbClr val="EB6834"/>
            </a:solidFill>
            <a:prstDash val="solid"/>
          </a:ln>
        </p:spPr>
      </p:sp>
      <p:pic>
        <p:nvPicPr>
          <p:cNvPr id="16" name="hallazgo1_icono" descr="preencoded.png">    </p:cNvPr>
          <p:cNvPicPr>
            <a:picLocks noChangeAspect="1"/>
          </p:cNvPicPr>
          <p:nvPr/>
        </p:nvPicPr>
        <p:blipFill>
          <a:blip r:embed="rId2"/>
          <a:stretch>
            <a:fillRect/>
          </a:stretch>
        </p:blipFill>
        <p:spPr>
          <a:xfrm>
            <a:off x="4725619" y="2787091"/>
            <a:ext cx="332842" cy="332842"/>
          </a:xfrm>
          <a:prstGeom prst="rect">
            <a:avLst/>
          </a:prstGeom>
        </p:spPr>
      </p:pic>
      <p:sp>
        <p:nvSpPr>
          <p:cNvPr id="17" name="Text 13"/>
          <p:cNvSpPr txBox="1"/>
          <p:nvPr/>
        </p:nvSpPr>
        <p:spPr>
          <a:xfrm>
            <a:off x="5394960" y="2542032"/>
            <a:ext cx="6217920" cy="1143000"/>
          </a:xfrm>
          <a:prstGeom prst="rect">
            <a:avLst/>
          </a:prstGeom>
          <a:noFill/>
          <a:ln/>
        </p:spPr>
        <p:txBody>
          <a:bodyPr wrap="square" lIns="0" tIns="0" rIns="0" bIns="0" rtlCol="0" anchor="t"/>
          <a:lstStyle/>
          <a:p>
            <a:pPr indent="0" marL="0">
              <a:buNone/>
            </a:pPr>
            <a:r>
              <a:rPr lang="en-US" sz="1600" b="1" dirty="0">
                <a:solidFill>
                  <a:schemeClr val="tx2"/>
                </a:solidFill>
              </a:rPr>
              <a:t>Lógica de tres valores</a:t>
            </a:r>
            <a:endParaRPr lang="en-US" sz="1500" dirty="0"/>
          </a:p>
          <a:p>
            <a:pPr indent="0" marL="0">
              <a:buNone/>
            </a:pPr>
            <a:r>
              <a:rPr lang="en-US" sz="1400" dirty="0">
                <a:solidFill>
                  <a:schemeClr val="tx1"/>
                </a:solidFill>
              </a:rPr>
              <a:t>NOT (x = 'TECNICA') es desconocido si x es NULL: se aceptaba un capitán sin categoría. Corrección: ISNULL.</a:t>
            </a:r>
            <a:endParaRPr lang="en-US" sz="1500" dirty="0"/>
          </a:p>
        </p:txBody>
      </p:sp>
      <p:sp>
        <p:nvSpPr>
          <p:cNvPr id="18" name="hallazgo2_circulo"/>
          <p:cNvSpPr/>
          <p:nvPr/>
        </p:nvSpPr>
        <p:spPr>
          <a:xfrm>
            <a:off x="4572000" y="3849624"/>
            <a:ext cx="640080" cy="640080"/>
          </a:xfrm>
          <a:prstGeom prst="ellipse">
            <a:avLst/>
          </a:prstGeom>
          <a:solidFill>
            <a:srgbClr val="EB6834"/>
          </a:solidFill>
          <a:ln w="12700">
            <a:solidFill>
              <a:srgbClr val="EB6834"/>
            </a:solidFill>
            <a:prstDash val="solid"/>
          </a:ln>
        </p:spPr>
      </p:sp>
      <p:pic>
        <p:nvPicPr>
          <p:cNvPr id="19" name="hallazgo2_icono" descr="preencoded.png">    </p:cNvPr>
          <p:cNvPicPr>
            <a:picLocks noChangeAspect="1"/>
          </p:cNvPicPr>
          <p:nvPr/>
        </p:nvPicPr>
        <p:blipFill>
          <a:blip r:embed="rId3"/>
          <a:stretch>
            <a:fillRect/>
          </a:stretch>
        </p:blipFill>
        <p:spPr>
          <a:xfrm>
            <a:off x="4725619" y="4003243"/>
            <a:ext cx="332842" cy="332842"/>
          </a:xfrm>
          <a:prstGeom prst="rect">
            <a:avLst/>
          </a:prstGeom>
        </p:spPr>
      </p:pic>
      <p:sp>
        <p:nvSpPr>
          <p:cNvPr id="20" name="Text 15"/>
          <p:cNvSpPr txBox="1"/>
          <p:nvPr/>
        </p:nvSpPr>
        <p:spPr>
          <a:xfrm>
            <a:off x="5394960" y="3758184"/>
            <a:ext cx="6217920" cy="1143000"/>
          </a:xfrm>
          <a:prstGeom prst="rect">
            <a:avLst/>
          </a:prstGeom>
          <a:noFill/>
          <a:ln/>
        </p:spPr>
        <p:txBody>
          <a:bodyPr wrap="square" lIns="0" tIns="0" rIns="0" bIns="0" rtlCol="0" anchor="t"/>
          <a:lstStyle/>
          <a:p>
            <a:pPr indent="0" marL="0">
              <a:buNone/>
            </a:pPr>
            <a:r>
              <a:rPr lang="en-US" sz="1600" b="1" dirty="0">
                <a:solidFill>
                  <a:schemeClr val="tx2"/>
                </a:solidFill>
              </a:rPr>
              <a:t>Efecto manada</a:t>
            </a:r>
            <a:endParaRPr lang="en-US" sz="1500" dirty="0"/>
          </a:p>
          <a:p>
            <a:pPr indent="0" marL="0">
              <a:buNone/>
            </a:pPr>
            <a:r>
              <a:rPr lang="en-US" sz="1400" dirty="0">
                <a:solidFill>
                  <a:schemeClr val="tx1"/>
                </a:solidFill>
              </a:rPr>
              <a:t>30 sesiones elegían el mismo «primer asiento libre». Corrección: semáforo por vuelo y cabina.</a:t>
            </a:r>
            <a:endParaRPr lang="en-US" sz="1500" dirty="0"/>
          </a:p>
        </p:txBody>
      </p:sp>
      <p:sp>
        <p:nvSpPr>
          <p:cNvPr id="21" name="hallazgo3_circulo"/>
          <p:cNvSpPr/>
          <p:nvPr/>
        </p:nvSpPr>
        <p:spPr>
          <a:xfrm>
            <a:off x="4572000" y="5065776"/>
            <a:ext cx="640080" cy="640080"/>
          </a:xfrm>
          <a:prstGeom prst="ellipse">
            <a:avLst/>
          </a:prstGeom>
          <a:solidFill>
            <a:srgbClr val="EB6834"/>
          </a:solidFill>
          <a:ln w="12700">
            <a:solidFill>
              <a:srgbClr val="EB6834"/>
            </a:solidFill>
            <a:prstDash val="solid"/>
          </a:ln>
        </p:spPr>
      </p:sp>
      <p:pic>
        <p:nvPicPr>
          <p:cNvPr id="22" name="hallazgo3_icono" descr="preencoded.png">    </p:cNvPr>
          <p:cNvPicPr>
            <a:picLocks noChangeAspect="1"/>
          </p:cNvPicPr>
          <p:nvPr/>
        </p:nvPicPr>
        <p:blipFill>
          <a:blip r:embed="rId4"/>
          <a:stretch>
            <a:fillRect/>
          </a:stretch>
        </p:blipFill>
        <p:spPr>
          <a:xfrm>
            <a:off x="4725619" y="5219395"/>
            <a:ext cx="332842" cy="332842"/>
          </a:xfrm>
          <a:prstGeom prst="rect">
            <a:avLst/>
          </a:prstGeom>
        </p:spPr>
      </p:pic>
      <p:sp>
        <p:nvSpPr>
          <p:cNvPr id="23" name="Text 17"/>
          <p:cNvSpPr txBox="1"/>
          <p:nvPr/>
        </p:nvSpPr>
        <p:spPr>
          <a:xfrm>
            <a:off x="5394960" y="4974336"/>
            <a:ext cx="6217920" cy="1143000"/>
          </a:xfrm>
          <a:prstGeom prst="rect">
            <a:avLst/>
          </a:prstGeom>
          <a:noFill/>
          <a:ln/>
        </p:spPr>
        <p:txBody>
          <a:bodyPr wrap="square" lIns="0" tIns="0" rIns="0" bIns="0" rtlCol="0" anchor="t"/>
          <a:lstStyle/>
          <a:p>
            <a:pPr indent="0" marL="0">
              <a:buNone/>
            </a:pPr>
            <a:r>
              <a:rPr lang="en-US" sz="1600" b="1" dirty="0">
                <a:solidFill>
                  <a:schemeClr val="tx2"/>
                </a:solidFill>
              </a:rPr>
              <a:t>Pooling de ODBC</a:t>
            </a:r>
            <a:endParaRPr lang="en-US" sz="1500" dirty="0"/>
          </a:p>
          <a:p>
            <a:pPr indent="0" marL="0">
              <a:buNone/>
            </a:pPr>
            <a:r>
              <a:rPr lang="en-US" sz="1400" dirty="0">
                <a:solidFill>
                  <a:schemeClr val="tx1"/>
                </a:solidFill>
              </a:rPr>
              <a:t>La carga heredaba una transacción abierta de otra conexión y no se confirmaba. Corrección: sin pooling y control de @@TRANCOUNT.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Nube preparada, no desplegada: lo decimos tal cual</a:t>
            </a:r>
            <a:endParaRPr lang="en-US" sz="3200" dirty="0"/>
          </a:p>
        </p:txBody>
      </p:sp>
      <p:sp>
        <p:nvSpPr>
          <p:cNvPr id="3" name="nube_fondo"/>
          <p:cNvSpPr/>
          <p:nvPr/>
        </p:nvSpPr>
        <p:spPr>
          <a:xfrm>
            <a:off x="548640" y="1325880"/>
            <a:ext cx="5486400" cy="4754880"/>
          </a:xfrm>
          <a:prstGeom prst="roundRect">
            <a:avLst>
              <a:gd name="adj" fmla="val 1538"/>
            </a:avLst>
          </a:prstGeom>
          <a:solidFill>
            <a:schemeClr val="bg2"/>
          </a:solidFill>
          <a:ln w="12700">
            <a:solidFill>
              <a:schemeClr val="bg2"/>
            </a:solidFill>
            <a:prstDash val="solid"/>
          </a:ln>
        </p:spPr>
      </p:sp>
      <p:sp>
        <p:nvSpPr>
          <p:cNvPr id="4" name="nube_circulo"/>
          <p:cNvSpPr/>
          <p:nvPr/>
        </p:nvSpPr>
        <p:spPr>
          <a:xfrm>
            <a:off x="822960" y="1554480"/>
            <a:ext cx="777240" cy="777240"/>
          </a:xfrm>
          <a:prstGeom prst="ellipse">
            <a:avLst/>
          </a:prstGeom>
          <a:solidFill>
            <a:srgbClr val="2A78D6"/>
          </a:solidFill>
          <a:ln w="12700">
            <a:solidFill>
              <a:srgbClr val="2A78D6"/>
            </a:solidFill>
            <a:prstDash val="solid"/>
          </a:ln>
        </p:spPr>
      </p:sp>
      <p:pic>
        <p:nvPicPr>
          <p:cNvPr id="5" name="nube_icono" descr="preencoded.png">    </p:cNvPr>
          <p:cNvPicPr>
            <a:picLocks noChangeAspect="1"/>
          </p:cNvPicPr>
          <p:nvPr/>
        </p:nvPicPr>
        <p:blipFill>
          <a:blip r:embed="rId1"/>
          <a:stretch>
            <a:fillRect/>
          </a:stretch>
        </p:blipFill>
        <p:spPr>
          <a:xfrm>
            <a:off x="1009498" y="1741018"/>
            <a:ext cx="404165" cy="404165"/>
          </a:xfrm>
          <a:prstGeom prst="rect">
            <a:avLst/>
          </a:prstGeom>
        </p:spPr>
      </p:pic>
      <p:sp>
        <p:nvSpPr>
          <p:cNvPr id="6" name="Text 3"/>
          <p:cNvSpPr txBox="1"/>
          <p:nvPr/>
        </p:nvSpPr>
        <p:spPr>
          <a:xfrm>
            <a:off x="1783080" y="1664208"/>
            <a:ext cx="4023360" cy="548640"/>
          </a:xfrm>
          <a:prstGeom prst="rect">
            <a:avLst/>
          </a:prstGeom>
          <a:noFill/>
          <a:ln/>
        </p:spPr>
        <p:txBody>
          <a:bodyPr wrap="square" lIns="0" tIns="0" rIns="0" bIns="0" rtlCol="0" anchor="t"/>
          <a:lstStyle/>
          <a:p>
            <a:pPr indent="0" marL="0">
              <a:buNone/>
            </a:pPr>
            <a:r>
              <a:rPr lang="en-US" sz="2000" b="1" dirty="0">
                <a:solidFill>
                  <a:schemeClr val="tx2"/>
                </a:solidFill>
              </a:rPr>
              <a:t>Azure SQL Database</a:t>
            </a:r>
            <a:endParaRPr lang="en-US" sz="2000" dirty="0"/>
          </a:p>
        </p:txBody>
      </p:sp>
      <p:sp>
        <p:nvSpPr>
          <p:cNvPr id="7" name="Text 4"/>
          <p:cNvSpPr txBox="1"/>
          <p:nvPr/>
        </p:nvSpPr>
        <p:spPr>
          <a:xfrm>
            <a:off x="868680" y="2514600"/>
            <a:ext cx="4937760"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Oferta gratuita, pausa automática al agotar el límite</a:t>
            </a:r>
            <a:endParaRPr lang="en-US" sz="1600" dirty="0"/>
          </a:p>
          <a:p>
            <a:pPr marL="342900" indent="-342900">
              <a:spcAft>
                <a:spcPts val="1000"/>
              </a:spcAft>
              <a:buSzPct val="100000"/>
              <a:buChar char="•"/>
            </a:pPr>
            <a:r>
              <a:rPr lang="en-US" sz="1600" dirty="0">
                <a:solidFill>
                  <a:schemeClr val="tx1"/>
                </a:solidFill>
              </a:rPr>
              <a:t>Solo Microsoft Entra ID; TLS 1.2; certificado validado</a:t>
            </a:r>
            <a:endParaRPr lang="en-US" sz="1600" dirty="0"/>
          </a:p>
          <a:p>
            <a:pPr marL="342900" indent="-342900">
              <a:spcAft>
                <a:spcPts val="1000"/>
              </a:spcAft>
              <a:buSzPct val="100000"/>
              <a:buChar char="•"/>
            </a:pPr>
            <a:r>
              <a:rPr lang="en-US" sz="1600" dirty="0">
                <a:solidFill>
                  <a:schemeClr val="tx1"/>
                </a:solidFill>
              </a:rPr>
              <a:t>Firewall solo para la IP del equipo, sin 0.0.0.0</a:t>
            </a:r>
            <a:endParaRPr lang="en-US" sz="1600" dirty="0"/>
          </a:p>
          <a:p>
            <a:pPr marL="342900" indent="-342900">
              <a:spcAft>
                <a:spcPts val="1000"/>
              </a:spcAft>
              <a:buSzPct val="100000"/>
              <a:buChar char="•"/>
            </a:pPr>
            <a:r>
              <a:rPr lang="en-US" sz="1600" dirty="0">
                <a:solidFill>
                  <a:schemeClr val="tx1"/>
                </a:solidFill>
              </a:rPr>
              <a:t>Script de creación en modo simulación por defecto</a:t>
            </a:r>
            <a:endParaRPr lang="en-US" sz="1600" dirty="0"/>
          </a:p>
          <a:p>
            <a:pPr marL="342900" indent="-342900">
              <a:spcAft>
                <a:spcPts val="1000"/>
              </a:spcAft>
              <a:buSzPct val="100000"/>
              <a:buChar char="•"/>
            </a:pPr>
            <a:r>
              <a:rPr lang="en-US" sz="1600" dirty="0">
                <a:solidFill>
                  <a:schemeClr val="tx1"/>
                </a:solidFill>
              </a:rPr>
              <a:t>Verificación de solo lectura y lista de 8 evidencias</a:t>
            </a:r>
            <a:endParaRPr lang="en-US" sz="1600" dirty="0"/>
          </a:p>
        </p:txBody>
      </p:sp>
      <p:sp>
        <p:nvSpPr>
          <p:cNvPr id="8" name="pendiente"/>
          <p:cNvSpPr/>
          <p:nvPr/>
        </p:nvSpPr>
        <p:spPr>
          <a:xfrm>
            <a:off x="868680" y="5120640"/>
            <a:ext cx="4892040" cy="731520"/>
          </a:xfrm>
          <a:prstGeom prst="roundRect">
            <a:avLst>
              <a:gd name="adj" fmla="val 10000"/>
            </a:avLst>
          </a:prstGeom>
          <a:solidFill>
            <a:schemeClr val="accent4"/>
          </a:solidFill>
          <a:ln w="12700">
            <a:solidFill>
              <a:schemeClr val="accent4"/>
            </a:solidFill>
            <a:prstDash val="solid"/>
          </a:ln>
        </p:spPr>
      </p:sp>
      <p:sp>
        <p:nvSpPr>
          <p:cNvPr id="9" name="Text 6"/>
          <p:cNvSpPr txBox="1"/>
          <p:nvPr/>
        </p:nvSpPr>
        <p:spPr>
          <a:xfrm>
            <a:off x="1005840" y="5166360"/>
            <a:ext cx="4617720" cy="640080"/>
          </a:xfrm>
          <a:prstGeom prst="rect">
            <a:avLst/>
          </a:prstGeom>
          <a:noFill/>
          <a:ln/>
        </p:spPr>
        <p:txBody>
          <a:bodyPr wrap="square" lIns="0" tIns="0" rIns="0" bIns="0" rtlCol="0" anchor="ctr"/>
          <a:lstStyle/>
          <a:p>
            <a:pPr indent="0" marL="0">
              <a:buNone/>
            </a:pPr>
            <a:r>
              <a:rPr lang="en-US" sz="1500" b="1" dirty="0">
                <a:solidFill>
                  <a:schemeClr val="tx1"/>
                </a:solidFill>
              </a:rPr>
              <a:t>Pendiente: requiere suscripción y autorización del equipo</a:t>
            </a:r>
            <a:endParaRPr lang="en-US" sz="1500" dirty="0"/>
          </a:p>
        </p:txBody>
      </p:sp>
      <p:sp>
        <p:nvSpPr>
          <p:cNvPr id="10" name="Text 7"/>
          <p:cNvSpPr txBox="1"/>
          <p:nvPr/>
        </p:nvSpPr>
        <p:spPr>
          <a:xfrm>
            <a:off x="6400800" y="1371600"/>
            <a:ext cx="5212080" cy="457200"/>
          </a:xfrm>
          <a:prstGeom prst="rect">
            <a:avLst/>
          </a:prstGeom>
          <a:noFill/>
          <a:ln/>
        </p:spPr>
        <p:txBody>
          <a:bodyPr wrap="square" lIns="0" tIns="0" rIns="0" bIns="0" rtlCol="0" anchor="t"/>
          <a:lstStyle/>
          <a:p>
            <a:pPr indent="0" marL="0">
              <a:buNone/>
            </a:pPr>
            <a:r>
              <a:rPr lang="en-US" sz="2000" b="1" dirty="0">
                <a:solidFill>
                  <a:schemeClr val="tx2"/>
                </a:solidFill>
              </a:rPr>
              <a:t>Limitaciones</a:t>
            </a:r>
            <a:endParaRPr lang="en-US" sz="2000" dirty="0"/>
          </a:p>
        </p:txBody>
      </p:sp>
      <p:sp>
        <p:nvSpPr>
          <p:cNvPr id="11" name="Text 8"/>
          <p:cNvSpPr txBox="1"/>
          <p:nvPr/>
        </p:nvSpPr>
        <p:spPr>
          <a:xfrm>
            <a:off x="6400800" y="2011680"/>
            <a:ext cx="5212080" cy="914400"/>
          </a:xfrm>
          <a:prstGeom prst="rect">
            <a:avLst/>
          </a:prstGeom>
          <a:noFill/>
          <a:ln/>
        </p:spPr>
        <p:txBody>
          <a:bodyPr wrap="square" lIns="0" tIns="0" rIns="0" bIns="0" rtlCol="0" anchor="t"/>
          <a:lstStyle/>
          <a:p>
            <a:pPr indent="0" marL="0">
              <a:buNone/>
            </a:pPr>
            <a:r>
              <a:rPr lang="en-US" sz="1600" b="1" dirty="0">
                <a:solidFill>
                  <a:schemeClr val="tx1"/>
                </a:solidFill>
              </a:rPr>
              <a:t>Datos sintéticos</a:t>
            </a:r>
            <a:endParaRPr lang="en-US" sz="1500" dirty="0"/>
          </a:p>
          <a:p>
            <a:pPr indent="0" marL="0">
              <a:buNone/>
            </a:pPr>
            <a:r>
              <a:rPr lang="en-US" sz="1400" dirty="0">
                <a:solidFill>
                  <a:schemeClr val="accent5"/>
                </a:solidFill>
              </a:rPr>
              <a:t>validan el modelo; no describen un mercado real</a:t>
            </a:r>
            <a:endParaRPr lang="en-US" sz="1500" dirty="0"/>
          </a:p>
        </p:txBody>
      </p:sp>
      <p:sp>
        <p:nvSpPr>
          <p:cNvPr id="12" name="Text 9"/>
          <p:cNvSpPr txBox="1"/>
          <p:nvPr/>
        </p:nvSpPr>
        <p:spPr>
          <a:xfrm>
            <a:off x="6400800" y="3063240"/>
            <a:ext cx="5212080" cy="914400"/>
          </a:xfrm>
          <a:prstGeom prst="rect">
            <a:avLst/>
          </a:prstGeom>
          <a:noFill/>
          <a:ln/>
        </p:spPr>
        <p:txBody>
          <a:bodyPr wrap="square" lIns="0" tIns="0" rIns="0" bIns="0" rtlCol="0" anchor="t"/>
          <a:lstStyle/>
          <a:p>
            <a:pPr indent="0" marL="0">
              <a:buNone/>
            </a:pPr>
            <a:r>
              <a:rPr lang="en-US" sz="1600" b="1" dirty="0">
                <a:solidFill>
                  <a:schemeClr val="tx1"/>
                </a:solidFill>
              </a:rPr>
              <a:t>Entorno de validación</a:t>
            </a:r>
            <a:endParaRPr lang="en-US" sz="1500" dirty="0"/>
          </a:p>
          <a:p>
            <a:pPr indent="0" marL="0">
              <a:buNone/>
            </a:pPr>
            <a:r>
              <a:rPr lang="en-US" sz="1400" dirty="0">
                <a:solidFill>
                  <a:schemeClr val="accent5"/>
                </a:solidFill>
              </a:rPr>
              <a:t>contenedor Linux con SQL Server 2022; falta la laptop Windows</a:t>
            </a:r>
            <a:endParaRPr lang="en-US" sz="1500" dirty="0"/>
          </a:p>
        </p:txBody>
      </p:sp>
      <p:sp>
        <p:nvSpPr>
          <p:cNvPr id="13" name="Text 10"/>
          <p:cNvSpPr txBox="1"/>
          <p:nvPr/>
        </p:nvSpPr>
        <p:spPr>
          <a:xfrm>
            <a:off x="6400800" y="4114800"/>
            <a:ext cx="5212080" cy="914400"/>
          </a:xfrm>
          <a:prstGeom prst="rect">
            <a:avLst/>
          </a:prstGeom>
          <a:noFill/>
          <a:ln/>
        </p:spPr>
        <p:txBody>
          <a:bodyPr wrap="square" lIns="0" tIns="0" rIns="0" bIns="0" rtlCol="0" anchor="t"/>
          <a:lstStyle/>
          <a:p>
            <a:pPr indent="0" marL="0">
              <a:buNone/>
            </a:pPr>
            <a:r>
              <a:rPr lang="en-US" sz="1600" b="1" dirty="0">
                <a:solidFill>
                  <a:schemeClr val="tx1"/>
                </a:solidFill>
              </a:rPr>
              <a:t>Compatibilidad 2016</a:t>
            </a:r>
            <a:endParaRPr lang="en-US" sz="1500" dirty="0"/>
          </a:p>
          <a:p>
            <a:pPr indent="0" marL="0">
              <a:buNone/>
            </a:pPr>
            <a:r>
              <a:rPr lang="en-US" sz="1400" dirty="0">
                <a:solidFill>
                  <a:schemeClr val="accent5"/>
                </a:solidFill>
              </a:rPr>
              <a:t>probada con nivel 130 en motor 2022, no en un motor 2016</a:t>
            </a:r>
            <a:endParaRPr lang="en-US" sz="1500" dirty="0"/>
          </a:p>
        </p:txBody>
      </p:sp>
      <p:sp>
        <p:nvSpPr>
          <p:cNvPr id="14" name="Text 11"/>
          <p:cNvSpPr txBox="1"/>
          <p:nvPr/>
        </p:nvSpPr>
        <p:spPr>
          <a:xfrm>
            <a:off x="6400800" y="5166360"/>
            <a:ext cx="5212080" cy="914400"/>
          </a:xfrm>
          <a:prstGeom prst="rect">
            <a:avLst/>
          </a:prstGeom>
          <a:noFill/>
          <a:ln/>
        </p:spPr>
        <p:txBody>
          <a:bodyPr wrap="square" lIns="0" tIns="0" rIns="0" bIns="0" rtlCol="0" anchor="t"/>
          <a:lstStyle/>
          <a:p>
            <a:pPr indent="0" marL="0">
              <a:buNone/>
            </a:pPr>
            <a:r>
              <a:rPr lang="en-US" sz="1600" b="1" dirty="0">
                <a:solidFill>
                  <a:schemeClr val="tx1"/>
                </a:solidFill>
              </a:rPr>
              <a:t>Enmascaramiento ≠ cifrado</a:t>
            </a:r>
            <a:endParaRPr lang="en-US" sz="1500" dirty="0"/>
          </a:p>
          <a:p>
            <a:pPr indent="0" marL="0">
              <a:buNone/>
            </a:pPr>
            <a:r>
              <a:rPr lang="en-US" sz="1400" dirty="0">
                <a:solidFill>
                  <a:schemeClr val="accent5"/>
                </a:solidFill>
              </a:rPr>
              <a:t>Always Encrypted queda como trabajo futuro</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Conclusiones y próximos pasos</a:t>
            </a:r>
            <a:endParaRPr lang="en-US" sz="3200" dirty="0"/>
          </a:p>
        </p:txBody>
      </p:sp>
      <p:sp>
        <p:nvSpPr>
          <p:cNvPr id="3" name="conclusion0"/>
          <p:cNvSpPr/>
          <p:nvPr/>
        </p:nvSpPr>
        <p:spPr>
          <a:xfrm>
            <a:off x="548640" y="1490472"/>
            <a:ext cx="457200" cy="457200"/>
          </a:xfrm>
          <a:prstGeom prst="ellipse">
            <a:avLst/>
          </a:prstGeom>
          <a:solidFill>
            <a:schemeClr val="accent3"/>
          </a:solidFill>
          <a:ln w="12700">
            <a:solidFill>
              <a:schemeClr val="accent3"/>
            </a:solidFill>
            <a:prstDash val="solid"/>
          </a:ln>
        </p:spPr>
      </p:sp>
      <p:sp>
        <p:nvSpPr>
          <p:cNvPr id="4" name="Text 2"/>
          <p:cNvSpPr txBox="1"/>
          <p:nvPr/>
        </p:nvSpPr>
        <p:spPr>
          <a:xfrm>
            <a:off x="548640" y="149047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 3"/>
          <p:cNvSpPr txBox="1"/>
          <p:nvPr/>
        </p:nvSpPr>
        <p:spPr>
          <a:xfrm>
            <a:off x="1234440" y="1417320"/>
            <a:ext cx="5760720" cy="822960"/>
          </a:xfrm>
          <a:prstGeom prst="rect">
            <a:avLst/>
          </a:prstGeom>
          <a:noFill/>
          <a:ln/>
        </p:spPr>
        <p:txBody>
          <a:bodyPr wrap="square" lIns="0" tIns="0" rIns="0" bIns="0" rtlCol="0" anchor="ctr"/>
          <a:lstStyle/>
          <a:p>
            <a:pPr indent="0" marL="0">
              <a:buNone/>
            </a:pPr>
            <a:r>
              <a:rPr lang="en-US" sz="1700" dirty="0">
                <a:solidFill>
                  <a:schemeClr val="bg1"/>
                </a:solidFill>
              </a:rPr>
              <a:t>Las ambigüedades se resolvieron con 42 reglas verificables y decisiones documentadas</a:t>
            </a:r>
            <a:endParaRPr lang="en-US" sz="1700" dirty="0"/>
          </a:p>
        </p:txBody>
      </p:sp>
      <p:sp>
        <p:nvSpPr>
          <p:cNvPr id="6" name="conclusion1"/>
          <p:cNvSpPr/>
          <p:nvPr/>
        </p:nvSpPr>
        <p:spPr>
          <a:xfrm>
            <a:off x="548640" y="2450592"/>
            <a:ext cx="457200" cy="457200"/>
          </a:xfrm>
          <a:prstGeom prst="ellipse">
            <a:avLst/>
          </a:prstGeom>
          <a:solidFill>
            <a:schemeClr val="accent3"/>
          </a:solidFill>
          <a:ln w="12700">
            <a:solidFill>
              <a:schemeClr val="accent3"/>
            </a:solidFill>
            <a:prstDash val="solid"/>
          </a:ln>
        </p:spPr>
      </p:sp>
      <p:sp>
        <p:nvSpPr>
          <p:cNvPr id="7" name="Text 5"/>
          <p:cNvSpPr txBox="1"/>
          <p:nvPr/>
        </p:nvSpPr>
        <p:spPr>
          <a:xfrm>
            <a:off x="548640" y="24505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8" name="Text 6"/>
          <p:cNvSpPr txBox="1"/>
          <p:nvPr/>
        </p:nvSpPr>
        <p:spPr>
          <a:xfrm>
            <a:off x="1234440" y="2377440"/>
            <a:ext cx="5760720" cy="822960"/>
          </a:xfrm>
          <a:prstGeom prst="rect">
            <a:avLst/>
          </a:prstGeom>
          <a:noFill/>
          <a:ln/>
        </p:spPr>
        <p:txBody>
          <a:bodyPr wrap="square" lIns="0" tIns="0" rIns="0" bIns="0" rtlCol="0" anchor="ctr"/>
          <a:lstStyle/>
          <a:p>
            <a:pPr indent="0" marL="0">
              <a:buNone/>
            </a:pPr>
            <a:r>
              <a:rPr lang="en-US" sz="1700" dirty="0">
                <a:solidFill>
                  <a:schemeClr val="bg1"/>
                </a:solidFill>
              </a:rPr>
              <a:t>Modelo en 3FN; diccionario y diagramas físicos generados del propio motor</a:t>
            </a:r>
            <a:endParaRPr lang="en-US" sz="1700" dirty="0"/>
          </a:p>
        </p:txBody>
      </p:sp>
      <p:sp>
        <p:nvSpPr>
          <p:cNvPr id="9" name="conclusion2"/>
          <p:cNvSpPr/>
          <p:nvPr/>
        </p:nvSpPr>
        <p:spPr>
          <a:xfrm>
            <a:off x="548640" y="3410712"/>
            <a:ext cx="457200" cy="457200"/>
          </a:xfrm>
          <a:prstGeom prst="ellipse">
            <a:avLst/>
          </a:prstGeom>
          <a:solidFill>
            <a:schemeClr val="accent3"/>
          </a:solidFill>
          <a:ln w="12700">
            <a:solidFill>
              <a:schemeClr val="accent3"/>
            </a:solidFill>
            <a:prstDash val="solid"/>
          </a:ln>
        </p:spPr>
      </p:sp>
      <p:sp>
        <p:nvSpPr>
          <p:cNvPr id="10" name="Text 8"/>
          <p:cNvSpPr txBox="1"/>
          <p:nvPr/>
        </p:nvSpPr>
        <p:spPr>
          <a:xfrm>
            <a:off x="548640" y="341071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1" name="Text 9"/>
          <p:cNvSpPr txBox="1"/>
          <p:nvPr/>
        </p:nvSpPr>
        <p:spPr>
          <a:xfrm>
            <a:off x="1234440" y="3337560"/>
            <a:ext cx="5760720" cy="822960"/>
          </a:xfrm>
          <a:prstGeom prst="rect">
            <a:avLst/>
          </a:prstGeom>
          <a:noFill/>
          <a:ln/>
        </p:spPr>
        <p:txBody>
          <a:bodyPr wrap="square" lIns="0" tIns="0" rIns="0" bIns="0" rtlCol="0" anchor="ctr"/>
          <a:lstStyle/>
          <a:p>
            <a:pPr indent="0" marL="0">
              <a:buNone/>
            </a:pPr>
            <a:r>
              <a:rPr lang="en-US" sz="1700" dirty="0">
                <a:solidFill>
                  <a:schemeClr val="bg1"/>
                </a:solidFill>
              </a:rPr>
              <a:t>La base rechaza lo inválido aun con sesiones simultáneas: 27 de 27 pruebas</a:t>
            </a:r>
            <a:endParaRPr lang="en-US" sz="1700" dirty="0"/>
          </a:p>
        </p:txBody>
      </p:sp>
      <p:sp>
        <p:nvSpPr>
          <p:cNvPr id="12" name="conclusion3"/>
          <p:cNvSpPr/>
          <p:nvPr/>
        </p:nvSpPr>
        <p:spPr>
          <a:xfrm>
            <a:off x="548640" y="4370832"/>
            <a:ext cx="457200" cy="457200"/>
          </a:xfrm>
          <a:prstGeom prst="ellipse">
            <a:avLst/>
          </a:prstGeom>
          <a:solidFill>
            <a:schemeClr val="accent3"/>
          </a:solidFill>
          <a:ln w="12700">
            <a:solidFill>
              <a:schemeClr val="accent3"/>
            </a:solidFill>
            <a:prstDash val="solid"/>
          </a:ln>
        </p:spPr>
      </p:sp>
      <p:sp>
        <p:nvSpPr>
          <p:cNvPr id="13" name="Text 11"/>
          <p:cNvSpPr txBox="1"/>
          <p:nvPr/>
        </p:nvSpPr>
        <p:spPr>
          <a:xfrm>
            <a:off x="548640" y="437083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4" name="Text 12"/>
          <p:cNvSpPr txBox="1"/>
          <p:nvPr/>
        </p:nvSpPr>
        <p:spPr>
          <a:xfrm>
            <a:off x="1234440" y="4297680"/>
            <a:ext cx="5760720" cy="822960"/>
          </a:xfrm>
          <a:prstGeom prst="rect">
            <a:avLst/>
          </a:prstGeom>
          <a:noFill/>
          <a:ln/>
        </p:spPr>
        <p:txBody>
          <a:bodyPr wrap="square" lIns="0" tIns="0" rIns="0" bIns="0" rtlCol="0" anchor="ctr"/>
          <a:lstStyle/>
          <a:p>
            <a:pPr indent="0" marL="0">
              <a:buNone/>
            </a:pPr>
            <a:r>
              <a:rPr lang="en-US" sz="1700" dirty="0">
                <a:solidFill>
                  <a:schemeClr val="bg1"/>
                </a:solidFill>
              </a:rPr>
              <a:t>Datos y 20 consultas reproducibles desde Python, sin multiplicar importes</a:t>
            </a:r>
            <a:endParaRPr lang="en-US" sz="1700" dirty="0"/>
          </a:p>
        </p:txBody>
      </p:sp>
      <p:sp>
        <p:nvSpPr>
          <p:cNvPr id="15" name="pasos_fondo"/>
          <p:cNvSpPr/>
          <p:nvPr/>
        </p:nvSpPr>
        <p:spPr>
          <a:xfrm>
            <a:off x="7406640" y="1371600"/>
            <a:ext cx="4206240" cy="3383280"/>
          </a:xfrm>
          <a:prstGeom prst="roundRect">
            <a:avLst>
              <a:gd name="adj" fmla="val 2703"/>
            </a:avLst>
          </a:prstGeom>
          <a:solidFill>
            <a:srgbClr val="22325A"/>
          </a:solidFill>
          <a:ln w="12700">
            <a:solidFill>
              <a:srgbClr val="22325A"/>
            </a:solidFill>
            <a:prstDash val="solid"/>
          </a:ln>
        </p:spPr>
      </p:sp>
      <p:sp>
        <p:nvSpPr>
          <p:cNvPr id="16" name="Text 14"/>
          <p:cNvSpPr txBox="1"/>
          <p:nvPr/>
        </p:nvSpPr>
        <p:spPr>
          <a:xfrm>
            <a:off x="7680960" y="1554480"/>
            <a:ext cx="3657600" cy="457200"/>
          </a:xfrm>
          <a:prstGeom prst="rect">
            <a:avLst/>
          </a:prstGeom>
          <a:noFill/>
          <a:ln/>
        </p:spPr>
        <p:txBody>
          <a:bodyPr wrap="square" lIns="0" tIns="0" rIns="0" bIns="0" rtlCol="0" anchor="t"/>
          <a:lstStyle/>
          <a:p>
            <a:pPr indent="0" marL="0">
              <a:buNone/>
            </a:pPr>
            <a:r>
              <a:rPr lang="en-US" sz="2000" b="1" dirty="0">
                <a:solidFill>
                  <a:schemeClr val="accent4"/>
                </a:solidFill>
              </a:rPr>
              <a:t>Próximos pasos</a:t>
            </a:r>
            <a:endParaRPr lang="en-US" sz="2000" dirty="0"/>
          </a:p>
        </p:txBody>
      </p:sp>
      <p:sp>
        <p:nvSpPr>
          <p:cNvPr id="17" name="Text 15"/>
          <p:cNvSpPr txBox="1"/>
          <p:nvPr/>
        </p:nvSpPr>
        <p:spPr>
          <a:xfrm>
            <a:off x="7680960" y="2148840"/>
            <a:ext cx="3657600" cy="2468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Reproducir en la laptop Windows</a:t>
            </a:r>
            <a:endParaRPr lang="en-US" sz="1600" dirty="0"/>
          </a:p>
          <a:p>
            <a:pPr marL="342900" indent="-342900">
              <a:spcAft>
                <a:spcPts val="800"/>
              </a:spcAft>
              <a:buSzPct val="100000"/>
              <a:buChar char="•"/>
            </a:pPr>
            <a:r>
              <a:rPr lang="en-US" sz="1600" dirty="0">
                <a:solidFill>
                  <a:schemeClr val="bg1"/>
                </a:solidFill>
              </a:rPr>
              <a:t>Desplegar en Azure con autorización</a:t>
            </a:r>
            <a:endParaRPr lang="en-US" sz="1600" dirty="0"/>
          </a:p>
          <a:p>
            <a:pPr marL="342900" indent="-342900">
              <a:spcAft>
                <a:spcPts val="800"/>
              </a:spcAft>
              <a:buSzPct val="100000"/>
              <a:buChar char="•"/>
            </a:pPr>
            <a:r>
              <a:rPr lang="en-US" sz="1600" dirty="0">
                <a:solidFill>
                  <a:schemeClr val="bg1"/>
                </a:solidFill>
              </a:rPr>
              <a:t>Publicar el repositorio en GitHub</a:t>
            </a:r>
            <a:endParaRPr lang="en-US" sz="1600" dirty="0"/>
          </a:p>
          <a:p>
            <a:pPr marL="342900" indent="-342900">
              <a:spcAft>
                <a:spcPts val="800"/>
              </a:spcAft>
              <a:buSzPct val="100000"/>
              <a:buChar char="•"/>
            </a:pPr>
            <a:r>
              <a:rPr lang="en-US" sz="1600" dirty="0">
                <a:solidFill>
                  <a:schemeClr val="bg1"/>
                </a:solidFill>
              </a:rPr>
              <a:t>Cifrar columnas sensibles</a:t>
            </a:r>
            <a:endParaRPr lang="en-US" sz="1600" dirty="0"/>
          </a:p>
          <a:p>
            <a:pPr marL="342900" indent="-342900">
              <a:spcAft>
                <a:spcPts val="800"/>
              </a:spcAft>
              <a:buSzPct val="100000"/>
              <a:buChar char="•"/>
            </a:pPr>
            <a:r>
              <a:rPr lang="en-US" sz="1600" dirty="0">
                <a:solidFill>
                  <a:schemeClr val="bg1"/>
                </a:solidFill>
              </a:rPr>
              <a:t>Probar con datos abiertos reales</a:t>
            </a:r>
            <a:endParaRPr lang="en-US" sz="1600" dirty="0"/>
          </a:p>
        </p:txBody>
      </p:sp>
      <p:sp>
        <p:nvSpPr>
          <p:cNvPr id="18" name="Text 16"/>
          <p:cNvSpPr txBox="1"/>
          <p:nvPr/>
        </p:nvSpPr>
        <p:spPr>
          <a:xfrm>
            <a:off x="548640" y="5669280"/>
            <a:ext cx="6400800" cy="548640"/>
          </a:xfrm>
          <a:prstGeom prst="rect">
            <a:avLst/>
          </a:prstGeom>
          <a:noFill/>
          <a:ln/>
        </p:spPr>
        <p:txBody>
          <a:bodyPr wrap="square" lIns="0" tIns="0" rIns="0" bIns="0" rtlCol="0" anchor="t"/>
          <a:lstStyle/>
          <a:p>
            <a:pPr indent="0" marL="0">
              <a:buNone/>
            </a:pPr>
            <a:r>
              <a:rPr lang="en-US" sz="2200" b="1" dirty="0">
                <a:solidFill>
                  <a:schemeClr val="accent6"/>
                </a:solidFill>
                <a:latin typeface="Cambria" pitchFamily="34" charset="0"/>
                <a:ea typeface="Cambria" pitchFamily="34" charset="-122"/>
                <a:cs typeface="Cambria" pitchFamily="34" charset="-120"/>
              </a:rPr>
              <a:t>Gracias · preguntas</a:t>
            </a:r>
            <a:endParaRPr lang="en-US" sz="2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Aerolinea PSMA00611">
  <a:themeElements>
    <a:clrScheme name="Aerolinea PSMA00611">
      <a:dk1>
        <a:srgbClr val="0B0B0B"/>
      </a:dk1>
      <a:lt1>
        <a:srgbClr val="FFFFFF"/>
      </a:lt1>
      <a:dk2>
        <a:srgbClr val="14213D"/>
      </a:dk2>
      <a:lt2>
        <a:srgbClr val="EEF3FA"/>
      </a:lt2>
      <a:accent1>
        <a:srgbClr val="2A78D6"/>
      </a:accent1>
      <a:accent2>
        <a:srgbClr val="EB6834"/>
      </a:accent2>
      <a:accent3>
        <a:srgbClr val="1BAF7A"/>
      </a:accent3>
      <a:accent4>
        <a:srgbClr val="FCA311"/>
      </a:accent4>
      <a:accent5>
        <a:srgbClr val="52514E"/>
      </a:accent5>
      <a:accent6>
        <a:srgbClr val="9EC5F4"/>
      </a:accent6>
      <a:hlink>
        <a:srgbClr val="2A78D6"/>
      </a:hlink>
      <a:folHlink>
        <a:srgbClr val="184F95"/>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 de datos para una aerolínea comercial (PSMA00611)</dc:title>
  <dc:subject>Producto Académico Colaborativo</dc:subject>
  <dc:creator>[POR COMPLETAR: equipo]</dc:creator>
  <cp:lastModifiedBy>[POR COMPLETAR: equipo]</cp:lastModifiedBy>
  <cp:revision>1</cp:revision>
  <dcterms:created xsi:type="dcterms:W3CDTF">2026-10-27T04:16:07Z</dcterms:created>
  <dcterms:modified xsi:type="dcterms:W3CDTF">2026-10-27T04:16:07Z</dcterms:modified>
</cp:coreProperties>
</file>